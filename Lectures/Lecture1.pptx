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1104" r:id="rId4"/>
    <p:sldId id="327" r:id="rId5"/>
    <p:sldId id="328" r:id="rId6"/>
    <p:sldId id="1257" r:id="rId7"/>
    <p:sldId id="1259" r:id="rId8"/>
    <p:sldId id="1255" r:id="rId9"/>
    <p:sldId id="1110" r:id="rId10"/>
    <p:sldId id="1258" r:id="rId11"/>
    <p:sldId id="1260" r:id="rId12"/>
    <p:sldId id="1261" r:id="rId13"/>
    <p:sldId id="1262" r:id="rId14"/>
    <p:sldId id="1263" r:id="rId15"/>
    <p:sldId id="1264" r:id="rId16"/>
    <p:sldId id="1265" r:id="rId17"/>
    <p:sldId id="1266" r:id="rId18"/>
    <p:sldId id="1267" r:id="rId19"/>
    <p:sldId id="1268" r:id="rId20"/>
    <p:sldId id="258" r:id="rId21"/>
    <p:sldId id="1256" r:id="rId22"/>
    <p:sldId id="259" r:id="rId23"/>
    <p:sldId id="1240" r:id="rId24"/>
    <p:sldId id="260" r:id="rId25"/>
    <p:sldId id="261" r:id="rId26"/>
    <p:sldId id="262" r:id="rId27"/>
    <p:sldId id="1250" r:id="rId28"/>
    <p:sldId id="1239" r:id="rId29"/>
    <p:sldId id="1241" r:id="rId30"/>
    <p:sldId id="1186" r:id="rId31"/>
    <p:sldId id="1187" r:id="rId32"/>
    <p:sldId id="1242" r:id="rId33"/>
    <p:sldId id="1198" r:id="rId34"/>
    <p:sldId id="1208" r:id="rId35"/>
    <p:sldId id="1243" r:id="rId36"/>
    <p:sldId id="1244" r:id="rId37"/>
    <p:sldId id="1117" r:id="rId38"/>
    <p:sldId id="1269" r:id="rId39"/>
    <p:sldId id="263" r:id="rId40"/>
    <p:sldId id="264" r:id="rId41"/>
    <p:sldId id="265" r:id="rId42"/>
    <p:sldId id="266" r:id="rId43"/>
    <p:sldId id="267" r:id="rId44"/>
    <p:sldId id="268" r:id="rId45"/>
    <p:sldId id="269" r:id="rId46"/>
    <p:sldId id="1133" r:id="rId47"/>
    <p:sldId id="1135" r:id="rId48"/>
    <p:sldId id="270" r:id="rId49"/>
    <p:sldId id="271" r:id="rId50"/>
    <p:sldId id="272" r:id="rId51"/>
    <p:sldId id="1246" r:id="rId52"/>
    <p:sldId id="273" r:id="rId53"/>
    <p:sldId id="274" r:id="rId54"/>
    <p:sldId id="275" r:id="rId55"/>
    <p:sldId id="1252" r:id="rId56"/>
    <p:sldId id="1251" r:id="rId57"/>
    <p:sldId id="1253" r:id="rId58"/>
    <p:sldId id="276" r:id="rId59"/>
    <p:sldId id="277" r:id="rId60"/>
    <p:sldId id="278" r:id="rId61"/>
    <p:sldId id="279" r:id="rId62"/>
    <p:sldId id="280" r:id="rId63"/>
    <p:sldId id="281" r:id="rId64"/>
    <p:sldId id="282" r:id="rId65"/>
    <p:sldId id="283" r:id="rId66"/>
    <p:sldId id="284" r:id="rId67"/>
    <p:sldId id="285" r:id="rId68"/>
    <p:sldId id="286" r:id="rId69"/>
    <p:sldId id="287" r:id="rId70"/>
    <p:sldId id="288" r:id="rId71"/>
    <p:sldId id="289" r:id="rId72"/>
    <p:sldId id="290" r:id="rId73"/>
    <p:sldId id="1254" r:id="rId74"/>
    <p:sldId id="1247" r:id="rId75"/>
    <p:sldId id="291" r:id="rId76"/>
    <p:sldId id="1248" r:id="rId77"/>
    <p:sldId id="1249" r:id="rId78"/>
    <p:sldId id="322" r:id="rId79"/>
    <p:sldId id="323" r:id="rId80"/>
    <p:sldId id="324" r:id="rId81"/>
    <p:sldId id="1245" r:id="rId82"/>
    <p:sldId id="325" r:id="rId83"/>
  </p:sldIdLst>
  <p:sldSz cx="10080625" cy="7559675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7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36"/>
    <p:restoredTop sz="94504"/>
  </p:normalViewPr>
  <p:slideViewPr>
    <p:cSldViewPr snapToGrid="0" snapToObjects="1">
      <p:cViewPr varScale="1">
        <p:scale>
          <a:sx n="122" d="100"/>
          <a:sy n="122" d="100"/>
        </p:scale>
        <p:origin x="7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3A5A8-D57A-7044-82F3-CAF75CE80DF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CDB65C-47B9-A143-BB72-94359FA11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2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1640" cy="5851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04000" y="405936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405936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4059360"/>
            <a:ext cx="907164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4059360"/>
            <a:ext cx="907164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76904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152680" y="405936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04000" y="4059360"/>
            <a:ext cx="4426920" cy="2091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7" name="Picture 36"/>
          <p:cNvPicPr/>
          <p:nvPr/>
        </p:nvPicPr>
        <p:blipFill>
          <a:blip r:embed="rId2"/>
          <a:stretch/>
        </p:blipFill>
        <p:spPr>
          <a:xfrm>
            <a:off x="2291040" y="1768680"/>
            <a:ext cx="5497200" cy="4384440"/>
          </a:xfrm>
          <a:prstGeom prst="rect">
            <a:avLst/>
          </a:prstGeom>
          <a:ln>
            <a:noFill/>
          </a:ln>
        </p:spPr>
      </p:pic>
      <p:pic>
        <p:nvPicPr>
          <p:cNvPr id="38" name="Picture 37"/>
          <p:cNvPicPr/>
          <p:nvPr/>
        </p:nvPicPr>
        <p:blipFill>
          <a:blip r:embed="rId2"/>
          <a:stretch/>
        </p:blipFill>
        <p:spPr>
          <a:xfrm>
            <a:off x="2291040" y="1768680"/>
            <a:ext cx="5497200" cy="43844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57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21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4384440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864000" lvl="1" indent="-324000">
              <a:spcAft>
                <a:spcPts val="1134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1296000" lvl="2" indent="-288000"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1728000" lvl="3" indent="-216000"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2160000" lvl="4" indent="-216000"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2592000" lvl="5" indent="-216000"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3024000" lvl="6" indent="-216000"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6887160"/>
            <a:ext cx="2348280" cy="52128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</p:spPr>
        <p:txBody>
          <a:bodyPr lIns="0" tIns="0" rIns="0" bIns="0"/>
          <a:lstStyle/>
          <a:p>
            <a:pPr algn="ctr"/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6887160"/>
            <a:ext cx="2348280" cy="52128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fld id="{5127805C-4FE7-4680-81F9-E10A66B77795}" type="slidenum"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ractical-ml-fmi.github.io/ML/" TargetMode="Externa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gif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jp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42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jpe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tiff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49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jpe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gif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t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Shape 1"/>
          <p:cNvSpPr txBox="1"/>
          <p:nvPr/>
        </p:nvSpPr>
        <p:spPr>
          <a:xfrm>
            <a:off x="504000" y="307080"/>
            <a:ext cx="9071640" cy="2436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Introduction to </a:t>
            </a:r>
            <a:r>
              <a:rPr lang="en-US" sz="4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Machine Learning.</a:t>
            </a:r>
            <a:r>
              <a:rPr lang="en-US" sz="4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
 Basic Concepts and Learning Paradigms. </a:t>
            </a:r>
          </a:p>
        </p:txBody>
      </p:sp>
      <p:sp>
        <p:nvSpPr>
          <p:cNvPr id="40" name="TextShape 2"/>
          <p:cNvSpPr txBox="1"/>
          <p:nvPr/>
        </p:nvSpPr>
        <p:spPr>
          <a:xfrm>
            <a:off x="504360" y="3543120"/>
            <a:ext cx="9071640" cy="32594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 Ionescu, Prof. PhD.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raducu.ionescu@gmail.com</a:t>
            </a:r>
          </a:p>
          <a:p>
            <a:pPr algn="ctr">
              <a:spcBef>
                <a:spcPts val="799"/>
              </a:spcBef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Faculty of Mathematics and Computer Science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University of Bucharest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307080"/>
            <a:ext cx="9071640" cy="1250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Machine Learning</a:t>
            </a:r>
          </a:p>
        </p:txBody>
      </p:sp>
      <p:sp>
        <p:nvSpPr>
          <p:cNvPr id="42" name="CustomShape 2"/>
          <p:cNvSpPr/>
          <p:nvPr/>
        </p:nvSpPr>
        <p:spPr>
          <a:xfrm>
            <a:off x="150471" y="1469986"/>
            <a:ext cx="9757458" cy="5486399"/>
          </a:xfrm>
          <a:prstGeom prst="ellipse">
            <a:avLst/>
          </a:prstGeom>
          <a:solidFill>
            <a:srgbClr val="FF0000">
              <a:alpha val="4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Artificial 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Intelligence</a:t>
            </a:r>
          </a:p>
          <a:p>
            <a:pPr algn="ctr"/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4" name="CustomShape 4"/>
          <p:cNvSpPr/>
          <p:nvPr/>
        </p:nvSpPr>
        <p:spPr>
          <a:xfrm>
            <a:off x="296574" y="2167526"/>
            <a:ext cx="6561859" cy="4325871"/>
          </a:xfrm>
          <a:prstGeom prst="ellipse">
            <a:avLst/>
          </a:prstGeom>
          <a:solidFill>
            <a:srgbClr val="0047FF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Machine</a:t>
            </a:r>
          </a:p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Learning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A15C59DA-F64E-3944-912E-22B6A8EC9D42}"/>
              </a:ext>
            </a:extLst>
          </p:cNvPr>
          <p:cNvSpPr/>
          <p:nvPr/>
        </p:nvSpPr>
        <p:spPr>
          <a:xfrm>
            <a:off x="1974210" y="2338201"/>
            <a:ext cx="2375222" cy="724121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Kernel Methods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8339CD7C-554C-B541-9EC0-1EA64B2D19AE}"/>
              </a:ext>
            </a:extLst>
          </p:cNvPr>
          <p:cNvSpPr/>
          <p:nvPr/>
        </p:nvSpPr>
        <p:spPr>
          <a:xfrm>
            <a:off x="737755" y="3062323"/>
            <a:ext cx="2375222" cy="680194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Deep Learning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" name="CustomShape 3">
            <a:extLst>
              <a:ext uri="{FF2B5EF4-FFF2-40B4-BE49-F238E27FC236}">
                <a16:creationId xmlns:a16="http://schemas.microsoft.com/office/drawing/2014/main" id="{08C1A61B-9E19-C54E-9C80-1F3D3D7CE62A}"/>
              </a:ext>
            </a:extLst>
          </p:cNvPr>
          <p:cNvSpPr/>
          <p:nvPr/>
        </p:nvSpPr>
        <p:spPr>
          <a:xfrm>
            <a:off x="4085118" y="4503229"/>
            <a:ext cx="2375222" cy="825135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Random Forest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" name="CustomShape 3">
            <a:extLst>
              <a:ext uri="{FF2B5EF4-FFF2-40B4-BE49-F238E27FC236}">
                <a16:creationId xmlns:a16="http://schemas.microsoft.com/office/drawing/2014/main" id="{A7881090-FF1D-C54A-87A7-40B4B7F30391}"/>
              </a:ext>
            </a:extLst>
          </p:cNvPr>
          <p:cNvSpPr/>
          <p:nvPr/>
        </p:nvSpPr>
        <p:spPr>
          <a:xfrm>
            <a:off x="588169" y="4661674"/>
            <a:ext cx="2675987" cy="724122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Bayesian Models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65F10019-1274-5A4D-AFBF-4F99BCE84DC5}"/>
              </a:ext>
            </a:extLst>
          </p:cNvPr>
          <p:cNvSpPr/>
          <p:nvPr/>
        </p:nvSpPr>
        <p:spPr>
          <a:xfrm>
            <a:off x="3208533" y="3054561"/>
            <a:ext cx="2790418" cy="724121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Nearest Neighbors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" name="CustomShape 3">
            <a:extLst>
              <a:ext uri="{FF2B5EF4-FFF2-40B4-BE49-F238E27FC236}">
                <a16:creationId xmlns:a16="http://schemas.microsoft.com/office/drawing/2014/main" id="{1D2B421D-E16E-014B-9ABE-022CF6FFB1BC}"/>
              </a:ext>
            </a:extLst>
          </p:cNvPr>
          <p:cNvSpPr/>
          <p:nvPr/>
        </p:nvSpPr>
        <p:spPr>
          <a:xfrm>
            <a:off x="1974210" y="5325187"/>
            <a:ext cx="3385881" cy="849241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Hierarchical Clustering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3" name="CustomShape 3">
            <a:extLst>
              <a:ext uri="{FF2B5EF4-FFF2-40B4-BE49-F238E27FC236}">
                <a16:creationId xmlns:a16="http://schemas.microsoft.com/office/drawing/2014/main" id="{B2A1AD42-98D9-B44D-93E4-DF3085BAA25D}"/>
              </a:ext>
            </a:extLst>
          </p:cNvPr>
          <p:cNvSpPr/>
          <p:nvPr/>
        </p:nvSpPr>
        <p:spPr>
          <a:xfrm>
            <a:off x="5663326" y="5270917"/>
            <a:ext cx="2581147" cy="892427"/>
          </a:xfrm>
          <a:prstGeom prst="ellipse">
            <a:avLst/>
          </a:prstGeom>
          <a:solidFill>
            <a:srgbClr val="FFFF0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Computer Vision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6737422" y="2988666"/>
            <a:ext cx="2905781" cy="1012291"/>
          </a:xfrm>
          <a:prstGeom prst="ellipse">
            <a:avLst/>
          </a:prstGeom>
          <a:solidFill>
            <a:srgbClr val="FFFF0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Knowledge</a:t>
            </a:r>
          </a:p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Representation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" name="CustomShape 3">
            <a:extLst>
              <a:ext uri="{FF2B5EF4-FFF2-40B4-BE49-F238E27FC236}">
                <a16:creationId xmlns:a16="http://schemas.microsoft.com/office/drawing/2014/main" id="{1936CFCB-16B2-6D47-A790-FF96D5D00722}"/>
              </a:ext>
            </a:extLst>
          </p:cNvPr>
          <p:cNvSpPr/>
          <p:nvPr/>
        </p:nvSpPr>
        <p:spPr>
          <a:xfrm>
            <a:off x="4499017" y="2039769"/>
            <a:ext cx="3294451" cy="1058522"/>
          </a:xfrm>
          <a:prstGeom prst="ellipse">
            <a:avLst/>
          </a:prstGeom>
          <a:solidFill>
            <a:srgbClr val="FFFF0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Natural Language </a:t>
            </a:r>
          </a:p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Processing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5" name="CustomShape 3">
            <a:extLst>
              <a:ext uri="{FF2B5EF4-FFF2-40B4-BE49-F238E27FC236}">
                <a16:creationId xmlns:a16="http://schemas.microsoft.com/office/drawing/2014/main" id="{E513952E-B3A1-6A43-9C74-8141DBC6C639}"/>
              </a:ext>
            </a:extLst>
          </p:cNvPr>
          <p:cNvSpPr/>
          <p:nvPr/>
        </p:nvSpPr>
        <p:spPr>
          <a:xfrm>
            <a:off x="1577997" y="6277321"/>
            <a:ext cx="3401740" cy="1012291"/>
          </a:xfrm>
          <a:prstGeom prst="ellipse">
            <a:avLst/>
          </a:prstGeom>
          <a:solidFill>
            <a:srgbClr val="00B05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Signal Processing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CustomShape 3">
            <a:extLst>
              <a:ext uri="{FF2B5EF4-FFF2-40B4-BE49-F238E27FC236}">
                <a16:creationId xmlns:a16="http://schemas.microsoft.com/office/drawing/2014/main" id="{E51F817B-8519-0D4E-90D1-EB0A48152D31}"/>
              </a:ext>
            </a:extLst>
          </p:cNvPr>
          <p:cNvSpPr/>
          <p:nvPr/>
        </p:nvSpPr>
        <p:spPr>
          <a:xfrm>
            <a:off x="4390225" y="5967977"/>
            <a:ext cx="3401740" cy="1012291"/>
          </a:xfrm>
          <a:prstGeom prst="ellipse">
            <a:avLst/>
          </a:prstGeom>
          <a:solidFill>
            <a:srgbClr val="00B05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Image Processing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028B9A9-B46A-174F-918C-CE1632CABC5C}"/>
              </a:ext>
            </a:extLst>
          </p:cNvPr>
          <p:cNvSpPr/>
          <p:nvPr/>
        </p:nvSpPr>
        <p:spPr>
          <a:xfrm>
            <a:off x="6916705" y="4158375"/>
            <a:ext cx="2676623" cy="1012291"/>
          </a:xfrm>
          <a:prstGeom prst="ellipse">
            <a:avLst/>
          </a:prstGeom>
          <a:solidFill>
            <a:srgbClr val="FFFF0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Expert Systems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CustomShape 3">
            <a:extLst>
              <a:ext uri="{FF2B5EF4-FFF2-40B4-BE49-F238E27FC236}">
                <a16:creationId xmlns:a16="http://schemas.microsoft.com/office/drawing/2014/main" id="{055D089F-BA18-674E-84A1-F9CF5D956FFB}"/>
              </a:ext>
            </a:extLst>
          </p:cNvPr>
          <p:cNvSpPr/>
          <p:nvPr/>
        </p:nvSpPr>
        <p:spPr>
          <a:xfrm>
            <a:off x="4844910" y="3787406"/>
            <a:ext cx="1955061" cy="622165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K-means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" name="CustomShape 3">
            <a:extLst>
              <a:ext uri="{FF2B5EF4-FFF2-40B4-BE49-F238E27FC236}">
                <a16:creationId xmlns:a16="http://schemas.microsoft.com/office/drawing/2014/main" id="{C3B29E16-C817-A24B-A239-F788F4499133}"/>
              </a:ext>
            </a:extLst>
          </p:cNvPr>
          <p:cNvSpPr/>
          <p:nvPr/>
        </p:nvSpPr>
        <p:spPr>
          <a:xfrm>
            <a:off x="487297" y="3803399"/>
            <a:ext cx="2375222" cy="741055"/>
          </a:xfrm>
          <a:prstGeom prst="ellipse">
            <a:avLst/>
          </a:prstGeom>
          <a:solidFill>
            <a:srgbClr val="00B0F0">
              <a:alpha val="60000"/>
            </a:srgbClr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Markov Models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652155"/>
            <a:ext cx="9071640" cy="525156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Lectures: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Radu Ionescu (</a:t>
            </a:r>
            <a:r>
              <a:rPr lang="en-US" sz="2400" dirty="0" err="1"/>
              <a:t>raducu.ionescu@gmail.com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Labs: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Adriana Costache (adriana16costache@gmail.com)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Silviu Gheorghe (</a:t>
            </a:r>
            <a:r>
              <a:rPr lang="en-GB" sz="2400" dirty="0" err="1"/>
              <a:t>ghesil@gmail.com</a:t>
            </a:r>
            <a:r>
              <a:rPr lang="en-US" sz="2400" dirty="0"/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Radu </a:t>
            </a:r>
            <a:r>
              <a:rPr lang="en-US" sz="2400" dirty="0" err="1"/>
              <a:t>Vrînceanu</a:t>
            </a:r>
            <a:r>
              <a:rPr lang="en-US" sz="2400" dirty="0"/>
              <a:t> (</a:t>
            </a:r>
            <a:r>
              <a:rPr lang="en-GB" sz="2400" dirty="0" err="1"/>
              <a:t>radutudorv@gmail.com</a:t>
            </a:r>
            <a:r>
              <a:rPr lang="en-US" sz="2400" dirty="0"/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Vlad </a:t>
            </a:r>
            <a:r>
              <a:rPr lang="en-US" sz="2400" dirty="0" err="1"/>
              <a:t>Hondru</a:t>
            </a:r>
            <a:r>
              <a:rPr lang="en-US" sz="2400" dirty="0"/>
              <a:t> (</a:t>
            </a:r>
            <a:r>
              <a:rPr lang="en-GB" sz="2400" dirty="0"/>
              <a:t>vlad.hondru25@gmail.com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Website:</a:t>
            </a:r>
          </a:p>
          <a:p>
            <a:pPr marL="0" indent="0">
              <a:buNone/>
            </a:pPr>
            <a:r>
              <a:rPr lang="en-US" sz="2400" dirty="0">
                <a:hlinkClick r:id="rId2"/>
              </a:rPr>
              <a:t>https://practical-ml-fmi.github.io/ML/</a:t>
            </a:r>
            <a:endParaRPr lang="en-US" sz="2400" dirty="0"/>
          </a:p>
          <a:p>
            <a:r>
              <a:rPr lang="en-US" sz="2400" dirty="0"/>
              <a:t>Team code: </a:t>
            </a:r>
            <a:r>
              <a:rPr lang="en-GB" b="1" dirty="0">
                <a:solidFill>
                  <a:srgbClr val="FF0000"/>
                </a:solidFill>
                <a:latin typeface="Andale Mono" panose="020B0509000000000004" pitchFamily="49" charset="0"/>
              </a:rPr>
              <a:t>799mxod</a:t>
            </a:r>
            <a:endParaRPr lang="en-US" b="1" dirty="0">
              <a:solidFill>
                <a:srgbClr val="FF0000"/>
              </a:solidFill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3181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307080"/>
            <a:ext cx="9071640" cy="1250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Grading System</a:t>
            </a:r>
            <a:endParaRPr lang="en-US" sz="4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C168C756-C916-6841-9DD5-38E90723C25E}"/>
              </a:ext>
            </a:extLst>
          </p:cNvPr>
          <p:cNvSpPr txBox="1"/>
          <p:nvPr/>
        </p:nvSpPr>
        <p:spPr>
          <a:xfrm>
            <a:off x="504000" y="1557360"/>
            <a:ext cx="9071640" cy="592600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Your final grade* is composed of:</a:t>
            </a: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20% for Project 1 (minimum 10%)</a:t>
            </a: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20% for Project 2 (minimum 10%)</a:t>
            </a: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60% for ORAL exam (minimum 30%)</a:t>
            </a:r>
          </a:p>
          <a:p>
            <a:pPr marL="565200" lvl="1">
              <a:spcAft>
                <a:spcPts val="814"/>
              </a:spcAft>
              <a:buClr>
                <a:srgbClr val="000000"/>
              </a:buClr>
              <a:buSzPct val="100000"/>
            </a:pPr>
            <a:r>
              <a:rPr lang="en-US" sz="22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(*) subject to passing the minimum grade for each!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Both projects are individual!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Each project consists of employing machine learning methods on a specific data set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Project 1 is about participating in a Kaggle competition </a:t>
            </a: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The competition will be launched in a couple of weeks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Project 2 is about comparing two unsupervised approaches</a:t>
            </a: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There are many datasets out there, so no overlap allowed among students!</a:t>
            </a:r>
            <a:endParaRPr lang="en-US" sz="2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908100" lvl="1" indent="-342900">
              <a:spcAft>
                <a:spcPts val="8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b="0" strike="noStrike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Methods and data sets must be chosen beforehand!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FF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586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2">
            <a:extLst>
              <a:ext uri="{FF2B5EF4-FFF2-40B4-BE49-F238E27FC236}">
                <a16:creationId xmlns:a16="http://schemas.microsoft.com/office/drawing/2014/main" id="{C168C756-C916-6841-9DD5-38E90723C25E}"/>
              </a:ext>
            </a:extLst>
          </p:cNvPr>
          <p:cNvSpPr txBox="1"/>
          <p:nvPr/>
        </p:nvSpPr>
        <p:spPr>
          <a:xfrm>
            <a:off x="504000" y="1557360"/>
            <a:ext cx="9071640" cy="57994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Projects must be presented no later than the day of the “exam”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There will be no paper exam, only ORAL exam!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The projects consist of the code implementation in Python (any library is allowed) and a PDF report including (0.5 points):</a:t>
            </a: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 description of the data set (for project 2 only)</a:t>
            </a: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 description of the implemented machine learning methods</a:t>
            </a: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figures and / or tables with results / hyperparameter tuning</a:t>
            </a: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comments / interpretation for the results</a:t>
            </a: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conclusion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45000"/>
              <a:buFontTx/>
              <a:buChar char="-"/>
            </a:pP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" name="TextShape 1">
            <a:extLst>
              <a:ext uri="{FF2B5EF4-FFF2-40B4-BE49-F238E27FC236}">
                <a16:creationId xmlns:a16="http://schemas.microsoft.com/office/drawing/2014/main" id="{6D395ACB-B15E-E640-9B4C-B457F65959A6}"/>
              </a:ext>
            </a:extLst>
          </p:cNvPr>
          <p:cNvSpPr txBox="1"/>
          <p:nvPr/>
        </p:nvSpPr>
        <p:spPr>
          <a:xfrm>
            <a:off x="504000" y="307080"/>
            <a:ext cx="9071640" cy="1250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Grading System</a:t>
            </a:r>
          </a:p>
        </p:txBody>
      </p:sp>
    </p:spTree>
    <p:extLst>
      <p:ext uri="{BB962C8B-B14F-4D97-AF65-F5344CB8AC3E}">
        <p14:creationId xmlns:p14="http://schemas.microsoft.com/office/powerpoint/2010/main" val="357889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508" y="501184"/>
            <a:ext cx="9070687" cy="84275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399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Grading System</a:t>
            </a:r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C168C756-C916-6841-9DD5-38E90723C25E}"/>
              </a:ext>
            </a:extLst>
          </p:cNvPr>
          <p:cNvSpPr txBox="1"/>
          <p:nvPr/>
        </p:nvSpPr>
        <p:spPr>
          <a:xfrm>
            <a:off x="504477" y="1573911"/>
            <a:ext cx="9070687" cy="56764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31955" indent="-323966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First project consists of implementing some machine learning method(s) for the proposed Kaggle challenge (TBA)</a:t>
            </a:r>
          </a:p>
          <a:p>
            <a:pPr marL="431955" indent="-323966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The grades will be proportional to your model’s accuracy: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Top 1-20 =&gt; your grade can be up to 2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Top 21-50 =&gt; your grade can be up to 1.8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Top 51-80 =&gt; your grade can be up to 1.6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Top 81-100 =&gt; your grade can be up to 1.4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Top 101-120 =&gt; your grade can be up to 1.2</a:t>
            </a:r>
          </a:p>
          <a:p>
            <a:pPr marL="107989" algn="just">
              <a:spcBef>
                <a:spcPts val="778"/>
              </a:spcBef>
              <a:spcAft>
                <a:spcPts val="753"/>
              </a:spcAft>
              <a:buClr>
                <a:srgbClr val="000000"/>
              </a:buClr>
              <a:buSzPct val="45000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- Others =&gt; your grade can be up to 1</a:t>
            </a:r>
          </a:p>
          <a:p>
            <a:pPr marL="431955" indent="-323966" algn="just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Ranks can change depending on the final number of participants</a:t>
            </a: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1955" indent="-323966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7418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508" y="501184"/>
            <a:ext cx="9070687" cy="84275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399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Grading System</a:t>
            </a:r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C168C756-C916-6841-9DD5-38E90723C25E}"/>
              </a:ext>
            </a:extLst>
          </p:cNvPr>
          <p:cNvSpPr txBox="1"/>
          <p:nvPr/>
        </p:nvSpPr>
        <p:spPr>
          <a:xfrm>
            <a:off x="504477" y="1573911"/>
            <a:ext cx="8970827" cy="56764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31955" indent="-323966" algn="just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Submit projects to: </a:t>
            </a:r>
            <a:r>
              <a:rPr lang="en-US" sz="24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practical.ml.fmi@gmail.com</a:t>
            </a: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1955" indent="-323966" algn="just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Submit only .</a:t>
            </a:r>
            <a:r>
              <a:rPr lang="en-US" sz="24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py</a:t>
            </a: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files only! (.</a:t>
            </a:r>
            <a:r>
              <a:rPr lang="en-US" sz="24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ipynb</a:t>
            </a: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not accepted)</a:t>
            </a:r>
          </a:p>
          <a:p>
            <a:pPr marL="431955" indent="-323966" algn="just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We will set deadlines (during every evaluation session) for:</a:t>
            </a:r>
          </a:p>
          <a:p>
            <a:pPr marL="908089" lvl="1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choosing the projects</a:t>
            </a:r>
          </a:p>
          <a:p>
            <a:pPr marL="908089" lvl="1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submitting the projects</a:t>
            </a:r>
          </a:p>
          <a:p>
            <a:pPr marL="908089" lvl="1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Wingdings" pitchFamily="2" charset="2"/>
              <a:buChar char="Ø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presenting </a:t>
            </a:r>
            <a:r>
              <a:rPr lang="en-US" sz="2400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the projects</a:t>
            </a: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50889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If you don’t know the dates, please ask! Don’t wait until the presentation day!</a:t>
            </a:r>
          </a:p>
          <a:p>
            <a:pPr marL="450889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Demonstrating good knowledge about the studied machine learning methods is mandatory to get a passing grade!</a:t>
            </a:r>
          </a:p>
          <a:p>
            <a:pPr marL="450889" indent="-342900" algn="just">
              <a:spcAft>
                <a:spcPts val="1414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</a:rPr>
              <a:t>If you fail the oral exam, projects need to be redone!</a:t>
            </a:r>
          </a:p>
          <a:p>
            <a:pPr marL="431955" indent="-323966" algn="just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1955" indent="-323966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02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2">
            <a:extLst>
              <a:ext uri="{FF2B5EF4-FFF2-40B4-BE49-F238E27FC236}">
                <a16:creationId xmlns:a16="http://schemas.microsoft.com/office/drawing/2014/main" id="{C168C756-C916-6841-9DD5-38E90723C25E}"/>
              </a:ext>
            </a:extLst>
          </p:cNvPr>
          <p:cNvSpPr txBox="1"/>
          <p:nvPr/>
        </p:nvSpPr>
        <p:spPr>
          <a:xfrm>
            <a:off x="504000" y="1557360"/>
            <a:ext cx="9071640" cy="579940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Extra points during lectures / labs </a:t>
            </a:r>
          </a:p>
          <a:p>
            <a:pPr marL="908100" lvl="1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awarded only in the first round of evaluation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Lectures:</a:t>
            </a:r>
          </a:p>
          <a:p>
            <a:pPr marL="908100" lvl="1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awarded based on the ranking of answers on Kahoot</a:t>
            </a:r>
          </a:p>
          <a:p>
            <a:pPr marL="908100" lvl="1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top 3 get up to 0.3 points per lecture, next 3 up to 0.2 points and so on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Labs:</a:t>
            </a:r>
          </a:p>
          <a:p>
            <a:pPr marL="908100" lvl="1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first to answer solve an exercise gets 0.2 points</a:t>
            </a:r>
          </a:p>
          <a:p>
            <a:pPr marL="908100" lvl="1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maximum 0.4 points per lab for each student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Up to 1 bonus point during lectures (added to final grade)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Up to 1 bonus point during labs (added to final grade)</a:t>
            </a: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" name="TextShape 1">
            <a:extLst>
              <a:ext uri="{FF2B5EF4-FFF2-40B4-BE49-F238E27FC236}">
                <a16:creationId xmlns:a16="http://schemas.microsoft.com/office/drawing/2014/main" id="{6D395ACB-B15E-E640-9B4C-B457F65959A6}"/>
              </a:ext>
            </a:extLst>
          </p:cNvPr>
          <p:cNvSpPr txBox="1"/>
          <p:nvPr/>
        </p:nvSpPr>
        <p:spPr>
          <a:xfrm>
            <a:off x="504000" y="307080"/>
            <a:ext cx="9071640" cy="1250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Grading System</a:t>
            </a:r>
          </a:p>
        </p:txBody>
      </p:sp>
    </p:spTree>
    <p:extLst>
      <p:ext uri="{BB962C8B-B14F-4D97-AF65-F5344CB8AC3E}">
        <p14:creationId xmlns:p14="http://schemas.microsoft.com/office/powerpoint/2010/main" val="208857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(NO) Collaboration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978928"/>
            <a:ext cx="9071610" cy="464394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600" dirty="0"/>
              <a:t>Collaboration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3600" dirty="0"/>
              <a:t>Each student must write their own code for the project(s)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3600" dirty="0"/>
              <a:t>Borrowing code from web sources with copy &amp; paste is not permitted under any circumstances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36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600" dirty="0"/>
              <a:t>No tolerance on plagiarism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3600" dirty="0"/>
              <a:t>Neither ethical nor in your best interest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3600" dirty="0"/>
              <a:t>Code will be checked automatically and manually!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3600" dirty="0">
                <a:solidFill>
                  <a:srgbClr val="FF0000"/>
                </a:solidFill>
              </a:rPr>
              <a:t>Don’t cheat. We will find out!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666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We are serious about this!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8C2DD9-4979-A940-9A81-98994CC56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501" y="1619396"/>
            <a:ext cx="6377622" cy="4320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15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8C779367-7705-AB4E-BB21-AF7D8DA72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70" y="1439593"/>
            <a:ext cx="88011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639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24B9424-9D6C-3C4E-86F0-7741BA9B87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62" y="1512887"/>
            <a:ext cx="8826500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436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B7FC1D94-B72D-E645-A19B-E5A5C5F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20" y="1158148"/>
            <a:ext cx="9017000" cy="595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526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4" name="Picture 3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E41CAD5D-E8CA-6348-898C-7393CACAE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86" y="1428778"/>
            <a:ext cx="9832652" cy="5523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38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5" name="Picture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5FB00522-6401-B247-BF70-9B6B33E408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962" y="1728787"/>
            <a:ext cx="7124700" cy="410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38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unacceptable plagiarism</a:t>
            </a: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B30D16EF-E455-874B-A98B-0C002D1F5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70" y="1048055"/>
            <a:ext cx="9486900" cy="621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368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acceptable code</a:t>
            </a:r>
          </a:p>
        </p:txBody>
      </p:sp>
      <p:pic>
        <p:nvPicPr>
          <p:cNvPr id="4" name="Picture 3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622B207-82E7-3246-8990-3EB3387E8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12" y="2039937"/>
            <a:ext cx="9779000" cy="347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1037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acceptable code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FD13408B-5D2F-C349-89B0-8BA8C44EF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342" y="1102629"/>
            <a:ext cx="6495939" cy="615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420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679341"/>
          </a:xfrm>
        </p:spPr>
        <p:txBody>
          <a:bodyPr/>
          <a:lstStyle/>
          <a:p>
            <a:pPr algn="ctr"/>
            <a:r>
              <a:rPr lang="en-US" sz="2800" dirty="0"/>
              <a:t>Examples of acceptable code</a:t>
            </a:r>
          </a:p>
        </p:txBody>
      </p:sp>
      <p:pic>
        <p:nvPicPr>
          <p:cNvPr id="5" name="Picture 4" descr="Text, application&#10;&#10;Description automatically generated with medium confidence">
            <a:extLst>
              <a:ext uri="{FF2B5EF4-FFF2-40B4-BE49-F238E27FC236}">
                <a16:creationId xmlns:a16="http://schemas.microsoft.com/office/drawing/2014/main" id="{3B29DFAD-6785-7E44-A3D1-086E270E1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99" y="1945119"/>
            <a:ext cx="9576625" cy="3669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695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Shape 1"/>
          <p:cNvSpPr txBox="1"/>
          <p:nvPr/>
        </p:nvSpPr>
        <p:spPr>
          <a:xfrm>
            <a:off x="290945" y="301320"/>
            <a:ext cx="9518073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What is artificial intelligence (AI)?</a:t>
            </a:r>
          </a:p>
        </p:txBody>
      </p:sp>
      <p:sp>
        <p:nvSpPr>
          <p:cNvPr id="47" name="TextShape 2"/>
          <p:cNvSpPr txBox="1"/>
          <p:nvPr/>
        </p:nvSpPr>
        <p:spPr>
          <a:xfrm>
            <a:off x="504000" y="1563480"/>
            <a:ext cx="9071640" cy="459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The ultimate goal of artificial 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intelligence is to build systems able to reach human intelligence levels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Turing test</a:t>
            </a: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: a computer is said to possess human-level intelligence if a remote human interrogator, within a fixed time frame, cannot distinguish between the computer and a human subject based on their replies to various questions posed by the interrogator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48" name="Picture 47"/>
          <p:cNvPicPr/>
          <p:nvPr/>
        </p:nvPicPr>
        <p:blipFill>
          <a:blip r:embed="rId2"/>
          <a:stretch/>
        </p:blipFill>
        <p:spPr>
          <a:xfrm>
            <a:off x="4579969" y="4236515"/>
            <a:ext cx="5112360" cy="3021840"/>
          </a:xfrm>
          <a:prstGeom prst="rect">
            <a:avLst/>
          </a:prstGeom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3003247-E773-114A-A82E-39C706285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4393799"/>
            <a:ext cx="3957173" cy="30218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Shape 1"/>
          <p:cNvSpPr txBox="1"/>
          <p:nvPr/>
        </p:nvSpPr>
        <p:spPr>
          <a:xfrm>
            <a:off x="290945" y="301320"/>
            <a:ext cx="9518073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Perhaps we are going in the right direction?</a:t>
            </a: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110EF143-4B9E-1C40-A520-51DCAA192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78" y="2639469"/>
            <a:ext cx="9193867" cy="428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04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What is machine learning (ML)?</a:t>
            </a:r>
          </a:p>
        </p:txBody>
      </p:sp>
      <p:sp>
        <p:nvSpPr>
          <p:cNvPr id="50" name="TextShape 2"/>
          <p:cNvSpPr txBox="1"/>
          <p:nvPr/>
        </p:nvSpPr>
        <p:spPr>
          <a:xfrm>
            <a:off x="504000" y="2118166"/>
            <a:ext cx="9071640" cy="40353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Many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AI researchers consider the ultimate goal of AI can be achieved by imitating the way humans learn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Machine Learning 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–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is the scientific study of algorithms and statistical models that computer systems use to learn from observations, without being explicitly programmed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In this 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context, </a:t>
            </a:r>
            <a:r>
              <a:rPr lang="en-US" sz="26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learning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refers to: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recognizing complex patterns in data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making intelligent decisions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based on data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7843-B090-524C-88C6-6D96C1DFB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020730"/>
          </a:xfrm>
        </p:spPr>
        <p:txBody>
          <a:bodyPr/>
          <a:lstStyle/>
          <a:p>
            <a:pPr algn="ctr"/>
            <a:r>
              <a:rPr lang="en-US" dirty="0"/>
              <a:t>Classic Programming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D751406-09A6-4F41-9BEF-33369772F39F}"/>
              </a:ext>
            </a:extLst>
          </p:cNvPr>
          <p:cNvGrpSpPr/>
          <p:nvPr/>
        </p:nvGrpSpPr>
        <p:grpSpPr>
          <a:xfrm>
            <a:off x="756497" y="1931916"/>
            <a:ext cx="8179148" cy="1679928"/>
            <a:chOff x="756497" y="1931916"/>
            <a:chExt cx="8179148" cy="1679928"/>
          </a:xfrm>
        </p:grpSpPr>
        <p:grpSp>
          <p:nvGrpSpPr>
            <p:cNvPr id="8" name="Group 2">
              <a:extLst>
                <a:ext uri="{FF2B5EF4-FFF2-40B4-BE49-F238E27FC236}">
                  <a16:creationId xmlns:a16="http://schemas.microsoft.com/office/drawing/2014/main" id="{D3B3AB41-3E1E-9E47-A206-84814D6552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370" y="1931916"/>
              <a:ext cx="2939874" cy="1679928"/>
              <a:chOff x="0" y="0"/>
              <a:chExt cx="2667000" cy="1524000"/>
            </a:xfrm>
          </p:grpSpPr>
          <p:sp>
            <p:nvSpPr>
              <p:cNvPr id="9" name="AutoShape 3">
                <a:extLst>
                  <a:ext uri="{FF2B5EF4-FFF2-40B4-BE49-F238E27FC236}">
                    <a16:creationId xmlns:a16="http://schemas.microsoft.com/office/drawing/2014/main" id="{FAA4EB93-4A7A-1A46-B4F8-F65A3BD0F2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0" y="0"/>
                <a:ext cx="2667000" cy="1524000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0" y="0"/>
                    </a:moveTo>
                    <a:lnTo>
                      <a:pt x="21599" y="0"/>
                    </a:lnTo>
                    <a:lnTo>
                      <a:pt x="21599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solidFill>
                <a:srgbClr val="BBE0E3"/>
              </a:solidFill>
              <a:ln w="25400" cap="flat" cmpd="sng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0" tIns="0" rIns="0" bIns="0" anchor="ctr"/>
              <a:lstStyle/>
              <a:p>
                <a:pPr algn="ctr"/>
                <a:endParaRPr lang="en-US" sz="3527"/>
              </a:p>
            </p:txBody>
          </p:sp>
          <p:sp>
            <p:nvSpPr>
              <p:cNvPr id="10" name="AutoShape 4">
                <a:extLst>
                  <a:ext uri="{FF2B5EF4-FFF2-40B4-BE49-F238E27FC236}">
                    <a16:creationId xmlns:a16="http://schemas.microsoft.com/office/drawing/2014/main" id="{80438383-8902-3C4F-858D-DDBBCC16FC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254" y="487977"/>
                <a:ext cx="1888491" cy="548046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21599"/>
                    </a:lnTo>
                    <a:lnTo>
                      <a:pt x="0" y="21599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flat" cmpd="sng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0" tIns="0" rIns="0" bIns="0" anchor="ctr"/>
              <a:lstStyle/>
              <a:p>
                <a:pPr algn="ctr"/>
                <a:r>
                  <a:rPr lang="en-US" sz="3527"/>
                  <a:t>Computer</a:t>
                </a:r>
                <a:endParaRPr lang="en-US" sz="1984"/>
              </a:p>
            </p:txBody>
          </p:sp>
        </p:grpSp>
        <p:sp>
          <p:nvSpPr>
            <p:cNvPr id="11" name="Line 5">
              <a:extLst>
                <a:ext uri="{FF2B5EF4-FFF2-40B4-BE49-F238E27FC236}">
                  <a16:creationId xmlns:a16="http://schemas.microsoft.com/office/drawing/2014/main" id="{863DE205-7977-294F-A1A2-CEC0577DC1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413" y="2435895"/>
              <a:ext cx="1007957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 dirty="0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12" name="Line 6">
              <a:extLst>
                <a:ext uri="{FF2B5EF4-FFF2-40B4-BE49-F238E27FC236}">
                  <a16:creationId xmlns:a16="http://schemas.microsoft.com/office/drawing/2014/main" id="{68D789D3-A33E-2C48-8455-1D4113B89D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413" y="3147258"/>
              <a:ext cx="1007957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13" name="Line 7">
              <a:extLst>
                <a:ext uri="{FF2B5EF4-FFF2-40B4-BE49-F238E27FC236}">
                  <a16:creationId xmlns:a16="http://schemas.microsoft.com/office/drawing/2014/main" id="{D8CE15DB-2497-2D44-AF08-0EF7A768AC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36243" y="2687884"/>
              <a:ext cx="839964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14" name="AutoShape 8">
              <a:extLst>
                <a:ext uri="{FF2B5EF4-FFF2-40B4-BE49-F238E27FC236}">
                  <a16:creationId xmlns:a16="http://schemas.microsoft.com/office/drawing/2014/main" id="{035B4915-D5CC-E549-8E54-4921B0B4BF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4965" y="2033412"/>
              <a:ext cx="1060454" cy="603725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599" y="0"/>
                  </a:lnTo>
                  <a:lnTo>
                    <a:pt x="21599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 dirty="0"/>
                <a:t>Data</a:t>
              </a:r>
              <a:endParaRPr lang="en-US" sz="1984" dirty="0"/>
            </a:p>
          </p:txBody>
        </p:sp>
        <p:sp>
          <p:nvSpPr>
            <p:cNvPr id="15" name="AutoShape 9">
              <a:extLst>
                <a:ext uri="{FF2B5EF4-FFF2-40B4-BE49-F238E27FC236}">
                  <a16:creationId xmlns:a16="http://schemas.microsoft.com/office/drawing/2014/main" id="{DAF3B734-E080-744C-85B9-171989748FE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497" y="2771880"/>
              <a:ext cx="1832172" cy="603725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600" y="0"/>
                  </a:lnTo>
                  <a:lnTo>
                    <a:pt x="21600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 dirty="0"/>
                <a:t>Program</a:t>
              </a:r>
              <a:endParaRPr lang="en-US" sz="1984" dirty="0"/>
            </a:p>
          </p:txBody>
        </p:sp>
        <p:sp>
          <p:nvSpPr>
            <p:cNvPr id="16" name="AutoShape 10">
              <a:extLst>
                <a:ext uri="{FF2B5EF4-FFF2-40B4-BE49-F238E27FC236}">
                  <a16:creationId xmlns:a16="http://schemas.microsoft.com/office/drawing/2014/main" id="{8FFA621A-D9C4-764D-9314-E286AE350495}"/>
                </a:ext>
              </a:extLst>
            </p:cNvPr>
            <p:cNvSpPr>
              <a:spLocks/>
            </p:cNvSpPr>
            <p:nvPr/>
          </p:nvSpPr>
          <p:spPr bwMode="auto">
            <a:xfrm>
              <a:off x="7476208" y="2351898"/>
              <a:ext cx="1459437" cy="603725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599" y="0"/>
                  </a:lnTo>
                  <a:lnTo>
                    <a:pt x="21599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/>
                <a:t>Output</a:t>
              </a:r>
              <a:endParaRPr lang="en-US" sz="1984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668FB00-F458-D04F-941A-20312C79C03A}"/>
              </a:ext>
            </a:extLst>
          </p:cNvPr>
          <p:cNvGrpSpPr/>
          <p:nvPr/>
        </p:nvGrpSpPr>
        <p:grpSpPr>
          <a:xfrm>
            <a:off x="1176479" y="5039783"/>
            <a:ext cx="8215897" cy="1679928"/>
            <a:chOff x="1066800" y="4572000"/>
            <a:chExt cx="7453313" cy="1524000"/>
          </a:xfrm>
        </p:grpSpPr>
        <p:grpSp>
          <p:nvGrpSpPr>
            <p:cNvPr id="18" name="Group 11">
              <a:extLst>
                <a:ext uri="{FF2B5EF4-FFF2-40B4-BE49-F238E27FC236}">
                  <a16:creationId xmlns:a16="http://schemas.microsoft.com/office/drawing/2014/main" id="{A0A9D778-05F9-9A4A-9E11-3A3587A11D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29000" y="4572000"/>
              <a:ext cx="2667000" cy="1524000"/>
              <a:chOff x="0" y="0"/>
              <a:chExt cx="2667000" cy="1524000"/>
            </a:xfrm>
          </p:grpSpPr>
          <p:sp>
            <p:nvSpPr>
              <p:cNvPr id="25" name="AutoShape 12">
                <a:extLst>
                  <a:ext uri="{FF2B5EF4-FFF2-40B4-BE49-F238E27FC236}">
                    <a16:creationId xmlns:a16="http://schemas.microsoft.com/office/drawing/2014/main" id="{CAE384C4-9A32-7C4D-8657-BE9241DF37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0" y="0"/>
                <a:ext cx="2667000" cy="1524000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0" y="0"/>
                    </a:moveTo>
                    <a:lnTo>
                      <a:pt x="21599" y="0"/>
                    </a:lnTo>
                    <a:lnTo>
                      <a:pt x="21599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solidFill>
                <a:srgbClr val="BBE0E3"/>
              </a:solidFill>
              <a:ln w="25400" cap="flat" cmpd="sng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0" tIns="0" rIns="0" bIns="0" anchor="ctr"/>
              <a:lstStyle/>
              <a:p>
                <a:pPr algn="ctr"/>
                <a:endParaRPr lang="en-US" sz="3527"/>
              </a:p>
            </p:txBody>
          </p:sp>
          <p:sp>
            <p:nvSpPr>
              <p:cNvPr id="26" name="AutoShape 13">
                <a:extLst>
                  <a:ext uri="{FF2B5EF4-FFF2-40B4-BE49-F238E27FC236}">
                    <a16:creationId xmlns:a16="http://schemas.microsoft.com/office/drawing/2014/main" id="{A0941C07-3877-FE40-9443-195412C7CA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9254" y="487977"/>
                <a:ext cx="1888491" cy="548046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21599"/>
                    </a:lnTo>
                    <a:lnTo>
                      <a:pt x="0" y="21599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flat" cmpd="sng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0" tIns="0" rIns="0" bIns="0" anchor="ctr"/>
              <a:lstStyle/>
              <a:p>
                <a:pPr algn="ctr"/>
                <a:r>
                  <a:rPr lang="en-US" sz="3527"/>
                  <a:t>Computer</a:t>
                </a:r>
                <a:endParaRPr lang="en-US" sz="1984"/>
              </a:p>
            </p:txBody>
          </p:sp>
        </p:grpSp>
        <p:sp>
          <p:nvSpPr>
            <p:cNvPr id="19" name="Line 14">
              <a:extLst>
                <a:ext uri="{FF2B5EF4-FFF2-40B4-BE49-F238E27FC236}">
                  <a16:creationId xmlns:a16="http://schemas.microsoft.com/office/drawing/2014/main" id="{FA7E7B4A-0D3E-F24C-BEB0-2B731A96B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4600" y="5029200"/>
              <a:ext cx="914400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 dirty="0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20" name="Line 15">
              <a:extLst>
                <a:ext uri="{FF2B5EF4-FFF2-40B4-BE49-F238E27FC236}">
                  <a16:creationId xmlns:a16="http://schemas.microsoft.com/office/drawing/2014/main" id="{F37705E2-AAD9-CA49-B7A6-D21E5B0990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4600" y="5715000"/>
              <a:ext cx="914400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408BF138-B8ED-E446-852C-A3E11C8A1F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0" y="5257800"/>
              <a:ext cx="762000" cy="0"/>
            </a:xfrm>
            <a:prstGeom prst="line">
              <a:avLst/>
            </a:prstGeom>
            <a:noFill/>
            <a:ln w="38100" cap="flat" cmpd="sng">
              <a:solidFill>
                <a:srgbClr val="000000"/>
              </a:solidFill>
              <a:prstDash val="solid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0" tIns="0" rIns="0" bIns="0"/>
            <a:lstStyle/>
            <a:p>
              <a:pPr defTabSz="503972"/>
              <a:endParaRPr lang="en-US" sz="1323">
                <a:latin typeface="Helvetica" charset="0"/>
                <a:cs typeface="Helvetica" charset="0"/>
                <a:sym typeface="Helvetica" charset="0"/>
              </a:endParaRPr>
            </a:p>
          </p:txBody>
        </p:sp>
        <p:sp>
          <p:nvSpPr>
            <p:cNvPr id="22" name="AutoShape 17">
              <a:extLst>
                <a:ext uri="{FF2B5EF4-FFF2-40B4-BE49-F238E27FC236}">
                  <a16:creationId xmlns:a16="http://schemas.microsoft.com/office/drawing/2014/main" id="{CF6949CD-8517-3D41-AC2C-5B599B4AF3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31925" y="4664075"/>
              <a:ext cx="962025" cy="547688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599" y="0"/>
                  </a:lnTo>
                  <a:lnTo>
                    <a:pt x="21599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 dirty="0"/>
                <a:t>Data</a:t>
              </a:r>
              <a:endParaRPr lang="en-US" sz="1984" dirty="0"/>
            </a:p>
          </p:txBody>
        </p:sp>
        <p:sp>
          <p:nvSpPr>
            <p:cNvPr id="23" name="AutoShape 18">
              <a:extLst>
                <a:ext uri="{FF2B5EF4-FFF2-40B4-BE49-F238E27FC236}">
                  <a16:creationId xmlns:a16="http://schemas.microsoft.com/office/drawing/2014/main" id="{37E80B29-7352-3C4B-B2DF-1F36139561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6800" y="5410200"/>
              <a:ext cx="1323975" cy="547688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599" y="0"/>
                  </a:lnTo>
                  <a:lnTo>
                    <a:pt x="21599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/>
                <a:t>Output</a:t>
              </a:r>
              <a:endParaRPr lang="en-US" sz="1984"/>
            </a:p>
          </p:txBody>
        </p:sp>
        <p:sp>
          <p:nvSpPr>
            <p:cNvPr id="24" name="AutoShape 19">
              <a:extLst>
                <a:ext uri="{FF2B5EF4-FFF2-40B4-BE49-F238E27FC236}">
                  <a16:creationId xmlns:a16="http://schemas.microsoft.com/office/drawing/2014/main" id="{611035FF-DB5C-A641-8D78-F4ACE30DEC58}"/>
                </a:ext>
              </a:extLst>
            </p:cNvPr>
            <p:cNvSpPr>
              <a:spLocks/>
            </p:cNvSpPr>
            <p:nvPr/>
          </p:nvSpPr>
          <p:spPr bwMode="auto">
            <a:xfrm>
              <a:off x="6858000" y="4953000"/>
              <a:ext cx="1662113" cy="547688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0" y="0"/>
                  </a:moveTo>
                  <a:lnTo>
                    <a:pt x="21600" y="0"/>
                  </a:lnTo>
                  <a:lnTo>
                    <a:pt x="21600" y="21599"/>
                  </a:lnTo>
                  <a:lnTo>
                    <a:pt x="0" y="2159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flat" cmpd="sng">
                  <a:solidFill>
                    <a:srgbClr val="000000"/>
                  </a:solidFill>
                  <a:prstDash val="solid"/>
                  <a:miter lim="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lIns="50397" tIns="50397" rIns="50397" bIns="50397"/>
            <a:lstStyle/>
            <a:p>
              <a:r>
                <a:rPr lang="en-US" sz="3527"/>
                <a:t>Program</a:t>
              </a:r>
              <a:endParaRPr lang="en-US" sz="1984"/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7F7CADC-0296-C84F-BEED-38C4D3F20C7E}"/>
              </a:ext>
            </a:extLst>
          </p:cNvPr>
          <p:cNvSpPr txBox="1">
            <a:spLocks/>
          </p:cNvSpPr>
          <p:nvPr/>
        </p:nvSpPr>
        <p:spPr>
          <a:xfrm>
            <a:off x="489133" y="3955201"/>
            <a:ext cx="9071640" cy="1020730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674845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 well-posed machine learning problem</a:t>
            </a:r>
            <a:endParaRPr lang="en-US" sz="4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2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What problems can be solved* with machine learning?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Well-posed machine learning problem: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08000">
              <a:spcAft>
                <a:spcPts val="1414"/>
              </a:spcAft>
              <a:buClr>
                <a:srgbClr val="000000"/>
              </a:buClr>
              <a:buSzPct val="45000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"A computer program is said to learn from experience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with respect to some class of tasks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and performance measure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, if its performance at tasks in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, as measured by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, improves with experience </a:t>
            </a:r>
            <a:r>
              <a:rPr lang="en-US" sz="2600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.” – Tom Mitchell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08000">
              <a:spcAft>
                <a:spcPts val="1414"/>
              </a:spcAft>
              <a:buClr>
                <a:srgbClr val="000000"/>
              </a:buClr>
              <a:buSzPct val="45000"/>
            </a:pPr>
            <a:r>
              <a:rPr lang="en-US" sz="26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(*) implies a certain degree of accuracy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 well-posed machine learning problem</a:t>
            </a:r>
          </a:p>
        </p:txBody>
      </p:sp>
      <p:sp>
        <p:nvSpPr>
          <p:cNvPr id="54" name="TextShape 2"/>
          <p:cNvSpPr txBox="1"/>
          <p:nvPr/>
        </p:nvSpPr>
        <p:spPr>
          <a:xfrm>
            <a:off x="504000" y="1769039"/>
            <a:ext cx="9071640" cy="54893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Arthur Samuel (1959) wrote a program for playing checkers (perhaps the first program based on the concept of learning, as defined by Tom Mitchell)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</a:t>
            </a: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rogram played 10K games against itself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</a:t>
            </a: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rogram was designed to find the good and bad positions on the board from the current state, based on the probability of winning or losing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 this example: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 = 10000 games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 = play checkers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720000" indent="-3429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 = win or lose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55" name="Picture 54"/>
          <p:cNvPicPr/>
          <p:nvPr/>
        </p:nvPicPr>
        <p:blipFill>
          <a:blip r:embed="rId2"/>
          <a:stretch/>
        </p:blipFill>
        <p:spPr>
          <a:xfrm>
            <a:off x="5353200" y="4513696"/>
            <a:ext cx="4222440" cy="29091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Strong </a:t>
            </a: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AI versus </a:t>
            </a: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Weak AI</a:t>
            </a:r>
          </a:p>
        </p:txBody>
      </p:sp>
      <p:sp>
        <p:nvSpPr>
          <p:cNvPr id="57" name="TextShape 2"/>
          <p:cNvSpPr txBox="1"/>
          <p:nvPr/>
        </p:nvSpPr>
        <p:spPr>
          <a:xfrm>
            <a:off x="504000" y="1769039"/>
            <a:ext cx="9071640" cy="506125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trong / generic / true AI / AGI</a:t>
            </a:r>
          </a:p>
          <a:p>
            <a:pPr marL="108000">
              <a:spcAft>
                <a:spcPts val="1414"/>
              </a:spcAft>
              <a:buClr>
                <a:srgbClr val="000000"/>
              </a:buClr>
              <a:buSzPct val="45000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(see the Turing test and its extensions)</a:t>
            </a: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eak / narrow AI</a:t>
            </a:r>
          </a:p>
          <a:p>
            <a:pPr marL="108000">
              <a:spcAft>
                <a:spcPts val="1414"/>
              </a:spcAft>
              <a:buClr>
                <a:srgbClr val="000000"/>
              </a:buClr>
              <a:buSzPct val="45000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(focuses on a specific well-posed problem)</a:t>
            </a: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When do we use machine learning?</a:t>
            </a:r>
          </a:p>
        </p:txBody>
      </p:sp>
      <p:sp>
        <p:nvSpPr>
          <p:cNvPr id="57" name="TextShape 2"/>
          <p:cNvSpPr txBox="1"/>
          <p:nvPr/>
        </p:nvSpPr>
        <p:spPr>
          <a:xfrm>
            <a:off x="504000" y="1769039"/>
            <a:ext cx="9071640" cy="506125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 use ML when it is hard (impossible) to define a set of rules by hand / to write a program based on explicit rules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Examples of tasks that be solved through machine learning: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ace detection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peech recognition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tock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rice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rediction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bject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</a:t>
            </a: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ecognition</a:t>
            </a:r>
          </a:p>
        </p:txBody>
      </p:sp>
    </p:spTree>
    <p:extLst>
      <p:ext uri="{BB962C8B-B14F-4D97-AF65-F5344CB8AC3E}">
        <p14:creationId xmlns:p14="http://schemas.microsoft.com/office/powerpoint/2010/main" val="419457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7843-B090-524C-88C6-6D96C1DF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essence of machine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80390-CE88-9D44-9161-D08DCF6BF1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640" cy="1832804"/>
          </a:xfrm>
        </p:spPr>
        <p:txBody>
          <a:bodyPr/>
          <a:lstStyle/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A pattern exists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We cannot express it programmatically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We have data on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D9A4F-C233-3142-A7BE-74AADB528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347" y="3981570"/>
            <a:ext cx="4252332" cy="31217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64FC32-12EC-614A-8F09-3CFE3A49F9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679" y="3981568"/>
            <a:ext cx="4797202" cy="312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232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D78C7-6AD4-A043-86B5-D7E8198F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What is machine learning?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B9146-1378-CB4E-AEF5-EB02360FF5D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563480"/>
            <a:ext cx="9071640" cy="5494545"/>
          </a:xfrm>
        </p:spPr>
        <p:txBody>
          <a:bodyPr/>
          <a:lstStyle/>
          <a:p>
            <a:r>
              <a:rPr lang="en-US" sz="2800" dirty="0"/>
              <a:t>[Arthur Samuel, 1959] field of study that: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gives computers the ability to learn without being explicitly programmed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dirty="0"/>
              <a:t>[Kevin Murphy] algorithms that: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automatically detect patterns in data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use the uncovered patterns to predict future data or other outcomes of interest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dirty="0"/>
              <a:t>[Tom Mitchell] algorithms that: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improve their performance (P)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at some task (T)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with experience (E)</a:t>
            </a:r>
          </a:p>
        </p:txBody>
      </p:sp>
    </p:spTree>
    <p:extLst>
      <p:ext uri="{BB962C8B-B14F-4D97-AF65-F5344CB8AC3E}">
        <p14:creationId xmlns:p14="http://schemas.microsoft.com/office/powerpoint/2010/main" val="37219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Brief history of AI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3" y="4115822"/>
            <a:ext cx="5599759" cy="3009871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rcRect t="5183" b="11890"/>
          <a:stretch>
            <a:fillRect/>
          </a:stretch>
        </p:blipFill>
        <p:spPr>
          <a:xfrm>
            <a:off x="1596460" y="1427938"/>
            <a:ext cx="6887704" cy="268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0770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Brief history of AI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type="subTitle"/>
          </p:nvPr>
        </p:nvSpPr>
        <p:spPr>
          <a:xfrm>
            <a:off x="504000" y="1428750"/>
            <a:ext cx="9071640" cy="5849730"/>
          </a:xfrm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FF0000"/>
                </a:solidFill>
              </a:rPr>
              <a:t>“We propose that a 2 month, 10 man study of artificial intelligence be carried out </a:t>
            </a:r>
            <a:r>
              <a:rPr lang="en-US" sz="2600" dirty="0"/>
              <a:t>during the summer of 1956 at Dartmouth College in Hanover, New Hampshire.”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The study is to proceed on the basis of the conjecture that every aspect of learning or any other feature of intelligence can in principle be so precisely described that a machine can be made to simulate it. 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An attempt will be made to find how to make machines use language, form abstractions and concepts, solve kinds of problems now reserved for humans, and improve themselves.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FF0000"/>
                </a:solidFill>
              </a:rPr>
              <a:t>We think that a significant advance can be made </a:t>
            </a:r>
            <a:r>
              <a:rPr lang="en-US" sz="2600" dirty="0"/>
              <a:t>in one or more of these problems if a carefully selected group of scientists work on it together </a:t>
            </a:r>
            <a:r>
              <a:rPr lang="en-US" sz="2600" dirty="0">
                <a:solidFill>
                  <a:srgbClr val="FF0000"/>
                </a:solidFill>
              </a:rPr>
              <a:t>for a summer.”</a:t>
            </a:r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4330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Brief history of AI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type="subTitle"/>
          </p:nvPr>
        </p:nvSpPr>
        <p:spPr>
          <a:xfrm>
            <a:off x="504000" y="1428750"/>
            <a:ext cx="9071640" cy="5849730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1960-1980s: ”AI Winter”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1990s: Neural networks dominate, essentially because of the discovery of the backpropagation for training neural networks with two or more layers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2000s: Kernel methods dominate, essentially because of the instability of training neural networks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2010s: The comeback of neural networks, essentially because of the discovery of deep learning</a:t>
            </a:r>
          </a:p>
        </p:txBody>
      </p:sp>
    </p:spTree>
    <p:extLst>
      <p:ext uri="{BB962C8B-B14F-4D97-AF65-F5344CB8AC3E}">
        <p14:creationId xmlns:p14="http://schemas.microsoft.com/office/powerpoint/2010/main" val="153664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Why are things working today?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type="subTitle"/>
          </p:nvPr>
        </p:nvSpPr>
        <p:spPr>
          <a:xfrm>
            <a:off x="258674" y="2170183"/>
            <a:ext cx="3425874" cy="4010355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More compute power</a:t>
            </a:r>
          </a:p>
          <a:p>
            <a:endParaRPr lang="en-US" sz="2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More data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Better algorithms / models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2539443" y="3847785"/>
            <a:ext cx="2687883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Accuracy</a:t>
            </a:r>
            <a:endParaRPr lang="en-US" sz="1984" dirty="0"/>
          </a:p>
        </p:txBody>
      </p:sp>
      <p:sp>
        <p:nvSpPr>
          <p:cNvPr id="11" name="Up Arrow 10"/>
          <p:cNvSpPr/>
          <p:nvPr/>
        </p:nvSpPr>
        <p:spPr bwMode="auto">
          <a:xfrm>
            <a:off x="4137497" y="2703900"/>
            <a:ext cx="167993" cy="2687884"/>
          </a:xfrm>
          <a:prstGeom prst="up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horz" wrap="none" lIns="100796" tIns="50398" rIns="100796" bIns="50398" numCol="1" rtlCol="0" anchor="ctr" anchorCtr="0" compatLnSpc="1">
            <a:prstTxWarp prst="textNoShape">
              <a:avLst/>
            </a:prstTxWarp>
          </a:bodyPr>
          <a:lstStyle/>
          <a:p>
            <a:pPr algn="ctr" defTabSz="1007943" eaLnBrk="0" fontAlgn="base" hangingPunct="0">
              <a:spcBef>
                <a:spcPct val="50000"/>
              </a:spcBef>
              <a:spcAft>
                <a:spcPct val="0"/>
              </a:spcAft>
            </a:pPr>
            <a:endParaRPr lang="en-US" sz="1323">
              <a:solidFill>
                <a:schemeClr val="tx1"/>
              </a:solidFill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8436" y="6180538"/>
            <a:ext cx="4783353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Amount of Training Data</a:t>
            </a:r>
          </a:p>
        </p:txBody>
      </p:sp>
      <p:sp>
        <p:nvSpPr>
          <p:cNvPr id="14" name="Up Arrow 13"/>
          <p:cNvSpPr/>
          <p:nvPr/>
        </p:nvSpPr>
        <p:spPr bwMode="auto">
          <a:xfrm rot="5400000">
            <a:off x="6942637" y="5327712"/>
            <a:ext cx="167993" cy="2687884"/>
          </a:xfrm>
          <a:prstGeom prst="up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horz" wrap="none" lIns="100796" tIns="50398" rIns="100796" bIns="50398" numCol="1" rtlCol="0" anchor="ctr" anchorCtr="0" compatLnSpc="1">
            <a:prstTxWarp prst="textNoShape">
              <a:avLst/>
            </a:prstTxWarp>
          </a:bodyPr>
          <a:lstStyle/>
          <a:p>
            <a:pPr algn="ctr" defTabSz="1007943" eaLnBrk="0" fontAlgn="base" hangingPunct="0">
              <a:spcBef>
                <a:spcPct val="50000"/>
              </a:spcBef>
              <a:spcAft>
                <a:spcPct val="0"/>
              </a:spcAft>
            </a:pPr>
            <a:endParaRPr lang="en-US" sz="1323">
              <a:solidFill>
                <a:schemeClr val="tx1"/>
              </a:solidFill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C13FDCD-1821-7143-BBFB-83FE8A77F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215" y="1862714"/>
            <a:ext cx="5436084" cy="419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528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type="subTitle"/>
              </p:nvPr>
            </p:nvSpPr>
            <p:spPr>
              <a:xfrm>
                <a:off x="503999" y="1943100"/>
                <a:ext cx="9240075" cy="4758642"/>
              </a:xfrm>
            </p:spPr>
            <p:txBody>
              <a:bodyPr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Tens of thousands of machine learning algorithms</a:t>
                </a:r>
              </a:p>
              <a:p>
                <a:pPr marL="720000" lvl="1" indent="-457200">
                  <a:buFont typeface="Wingdings" pitchFamily="2" charset="2"/>
                  <a:buChar char="Ø"/>
                </a:pPr>
                <a:r>
                  <a:rPr lang="en-US" sz="2800" dirty="0"/>
                  <a:t>Researchers publish hundreds new every year</a:t>
                </a:r>
              </a:p>
              <a:p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Decades of ML research oversimplified:</a:t>
                </a:r>
              </a:p>
              <a:p>
                <a:pPr marL="720000" lvl="4" indent="-457200">
                  <a:buFont typeface="Wingdings" pitchFamily="2" charset="2"/>
                  <a:buChar char="Ø"/>
                </a:pPr>
                <a:r>
                  <a:rPr lang="en-US" sz="2800" dirty="0"/>
                  <a:t>Learn a mapping f from the input X to the output Y, i.e.: </a:t>
                </a:r>
              </a:p>
              <a:p>
                <a:pPr marL="262800" lvl="4"/>
                <a14:m>
                  <m:oMathPara xmlns:m="http://schemas.openxmlformats.org/officeDocument/2006/math">
                    <m:oMath>
                      <m:r>
                        <a:rPr lang="ro-RO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ro-RO" sz="28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ro-RO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ro-RO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ro-RO" sz="28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2800" dirty="0"/>
              </a:p>
              <a:p>
                <a:pPr marL="262800" lvl="4"/>
                <a:endParaRPr lang="en-US" sz="2800" dirty="0"/>
              </a:p>
              <a:p>
                <a:pPr marL="720000" lvl="1" indent="-457200">
                  <a:buFont typeface="Wingdings" pitchFamily="2" charset="2"/>
                  <a:buChar char="Ø"/>
                </a:pPr>
                <a:r>
                  <a:rPr lang="en-US" sz="2800" dirty="0"/>
                  <a:t>Example: X are emails, Y: {spam, not-spam}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/>
              </p:nvPr>
            </p:nvSpPr>
            <p:spPr>
              <a:xfrm>
                <a:off x="503999" y="1943100"/>
                <a:ext cx="9240075" cy="4758642"/>
              </a:xfrm>
              <a:blipFill>
                <a:blip r:embed="rId2"/>
                <a:stretch>
                  <a:fillRect l="-2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ML in a nutshell</a:t>
            </a:r>
          </a:p>
        </p:txBody>
      </p:sp>
    </p:spTree>
    <p:extLst>
      <p:ext uri="{BB962C8B-B14F-4D97-AF65-F5344CB8AC3E}">
        <p14:creationId xmlns:p14="http://schemas.microsoft.com/office/powerpoint/2010/main" val="1662756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type="subTitle"/>
              </p:nvPr>
            </p:nvSpPr>
            <p:spPr>
              <a:xfrm>
                <a:off x="504000" y="1563480"/>
                <a:ext cx="9071640" cy="5760473"/>
              </a:xfrm>
            </p:spPr>
            <p:txBody>
              <a:bodyPr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Input: X   			(images, texts, emails…)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Output: Y			(spam or not-spam…)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(Unknown) Target Function: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ro-RO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				(the “true” mapping / reality)</a:t>
                </a:r>
              </a:p>
              <a:p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Data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ro-RO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,…</a:t>
                </a:r>
                <a:r>
                  <a:rPr lang="ro-RO" sz="2800" b="0" dirty="0"/>
                  <a:t> </a:t>
                </a:r>
                <a14:m>
                  <m:oMath xmlns:m="http://schemas.openxmlformats.org/officeDocument/2006/math"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Model / Hypothesis Class</a:t>
                </a:r>
              </a:p>
              <a:p>
                <a:pPr lvl="1" algn="l"/>
                <a:r>
                  <a:rPr lang="ro-RO" sz="2800" b="0" dirty="0"/>
                  <a:t> </a:t>
                </a:r>
                <a14:m>
                  <m:oMath xmlns:m="http://schemas.openxmlformats.org/officeDocument/2006/math"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ro-RO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2800" dirty="0"/>
              </a:p>
              <a:p>
                <a:pPr lvl="1" algn="l"/>
                <a:r>
                  <a:rPr lang="ro-RO" sz="2800" b="0" dirty="0"/>
                  <a:t> </a:t>
                </a:r>
                <a14:m>
                  <m:oMath xmlns:m="http://schemas.openxmlformats.org/officeDocument/2006/math"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𝑠𝑖𝑔𝑛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o-RO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ro-RO" sz="2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ro-RO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/>
              </p:nvPr>
            </p:nvSpPr>
            <p:spPr>
              <a:xfrm>
                <a:off x="504000" y="1563480"/>
                <a:ext cx="9071640" cy="5760473"/>
              </a:xfrm>
              <a:blipFill>
                <a:blip r:embed="rId2"/>
                <a:stretch>
                  <a:fillRect l="-2098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ML in a nutshell</a:t>
            </a:r>
          </a:p>
        </p:txBody>
      </p:sp>
    </p:spTree>
    <p:extLst>
      <p:ext uri="{BB962C8B-B14F-4D97-AF65-F5344CB8AC3E}">
        <p14:creationId xmlns:p14="http://schemas.microsoft.com/office/powerpoint/2010/main" val="400147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subTitle"/>
          </p:nvPr>
        </p:nvSpPr>
        <p:spPr>
          <a:xfrm>
            <a:off x="504000" y="2257424"/>
            <a:ext cx="9071640" cy="3896055"/>
          </a:xfrm>
        </p:spPr>
        <p:txBody>
          <a:bodyPr/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/>
              <a:t>Every machine learning algorithm has three components:</a:t>
            </a:r>
          </a:p>
          <a:p>
            <a:pPr marL="7200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3200" dirty="0"/>
              <a:t>Representation / Model Class</a:t>
            </a:r>
          </a:p>
          <a:p>
            <a:pPr marL="7200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3200" dirty="0"/>
              <a:t>Evaluation / Objective Function</a:t>
            </a:r>
          </a:p>
          <a:p>
            <a:pPr marL="7200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3200" dirty="0"/>
              <a:t>Optimization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ML in a nutshell</a:t>
            </a:r>
          </a:p>
        </p:txBody>
      </p:sp>
    </p:spTree>
    <p:extLst>
      <p:ext uri="{BB962C8B-B14F-4D97-AF65-F5344CB8AC3E}">
        <p14:creationId xmlns:p14="http://schemas.microsoft.com/office/powerpoint/2010/main" val="388455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Where does ML fit in?</a:t>
            </a:r>
          </a:p>
        </p:txBody>
      </p:sp>
      <p:pic>
        <p:nvPicPr>
          <p:cNvPr id="4" name="Picture 3" descr="A dog sitting on a couch eating a pizza&#10;&#10;AI-generated content may be incorrect.">
            <a:extLst>
              <a:ext uri="{FF2B5EF4-FFF2-40B4-BE49-F238E27FC236}">
                <a16:creationId xmlns:a16="http://schemas.microsoft.com/office/drawing/2014/main" id="{42DC57AF-46BF-5A0F-3110-3423B90163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906" y="1563480"/>
            <a:ext cx="5383827" cy="548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566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436EC-E520-B73E-396E-4E1A0F2E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A1EEA-322C-1EA3-8BF5-5B1C529BB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Where does ML fit in?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A6C0AB5-BB2D-26A2-2450-773AD3FF3D63}"/>
              </a:ext>
            </a:extLst>
          </p:cNvPr>
          <p:cNvSpPr/>
          <p:nvPr/>
        </p:nvSpPr>
        <p:spPr>
          <a:xfrm>
            <a:off x="6419767" y="1619952"/>
            <a:ext cx="2343150" cy="145118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Applied </a:t>
            </a:r>
            <a:r>
              <a:rPr lang="en-US" sz="2200" dirty="0" err="1"/>
              <a:t>Maths</a:t>
            </a:r>
            <a:endParaRPr lang="en-US" sz="2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AE27709-0D7C-6DE4-D38D-318660A3467D}"/>
              </a:ext>
            </a:extLst>
          </p:cNvPr>
          <p:cNvSpPr/>
          <p:nvPr/>
        </p:nvSpPr>
        <p:spPr>
          <a:xfrm>
            <a:off x="299253" y="1682360"/>
            <a:ext cx="2843212" cy="145118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Biology</a:t>
            </a:r>
          </a:p>
          <a:p>
            <a:pPr algn="ctr"/>
            <a:r>
              <a:rPr lang="en-US" sz="2200" dirty="0"/>
              <a:t>Neuroscience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D650CFA-45E4-9B3E-512A-62EFEFEAE1FF}"/>
              </a:ext>
            </a:extLst>
          </p:cNvPr>
          <p:cNvSpPr/>
          <p:nvPr/>
        </p:nvSpPr>
        <p:spPr>
          <a:xfrm>
            <a:off x="450056" y="4635265"/>
            <a:ext cx="2343150" cy="145118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Computer Science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39A339B-368F-71A9-5A6B-E0B95140100D}"/>
              </a:ext>
            </a:extLst>
          </p:cNvPr>
          <p:cNvSpPr/>
          <p:nvPr/>
        </p:nvSpPr>
        <p:spPr>
          <a:xfrm>
            <a:off x="7165815" y="4635266"/>
            <a:ext cx="2343150" cy="145118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Statistics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3FAB3E-AC0D-D7A7-030A-3FD30AB84091}"/>
              </a:ext>
            </a:extLst>
          </p:cNvPr>
          <p:cNvSpPr/>
          <p:nvPr/>
        </p:nvSpPr>
        <p:spPr>
          <a:xfrm>
            <a:off x="3777884" y="3545001"/>
            <a:ext cx="2343150" cy="1451185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Machine Learning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27F4D38C-8C05-D6CE-317D-F63832FB36C6}"/>
              </a:ext>
            </a:extLst>
          </p:cNvPr>
          <p:cNvSpPr/>
          <p:nvPr/>
        </p:nvSpPr>
        <p:spPr>
          <a:xfrm rot="2431336">
            <a:off x="2894413" y="3135895"/>
            <a:ext cx="1155573" cy="48525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17485B-3A7A-4B12-D66D-1EDB2D6B910B}"/>
              </a:ext>
            </a:extLst>
          </p:cNvPr>
          <p:cNvSpPr txBox="1"/>
          <p:nvPr/>
        </p:nvSpPr>
        <p:spPr>
          <a:xfrm>
            <a:off x="299253" y="3131723"/>
            <a:ext cx="30106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Biology of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Inspiring paradigms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E.g.: neural networks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F8BFE0-CD59-6177-5F07-3DDD56270441}"/>
              </a:ext>
            </a:extLst>
          </p:cNvPr>
          <p:cNvSpPr txBox="1"/>
          <p:nvPr/>
        </p:nvSpPr>
        <p:spPr>
          <a:xfrm>
            <a:off x="450056" y="6086450"/>
            <a:ext cx="28432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Algorithms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Data structures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Complexity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E.g.: k-d trees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541AB5-26DC-ED57-D6C9-92031E67A339}"/>
              </a:ext>
            </a:extLst>
          </p:cNvPr>
          <p:cNvSpPr txBox="1"/>
          <p:nvPr/>
        </p:nvSpPr>
        <p:spPr>
          <a:xfrm>
            <a:off x="6672668" y="6086451"/>
            <a:ext cx="31696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Estimation techniques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Theoretical frameworks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Optimality,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E.g.: Bayes rule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9C00C7-C3CA-8589-5A66-272D12EDCA79}"/>
              </a:ext>
            </a:extLst>
          </p:cNvPr>
          <p:cNvSpPr txBox="1"/>
          <p:nvPr/>
        </p:nvSpPr>
        <p:spPr>
          <a:xfrm>
            <a:off x="6672667" y="3127609"/>
            <a:ext cx="28432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Linear algebra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Derivatives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E.g.: local minimum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53FD7C00-D47C-7007-DBDB-5ECB72995B9C}"/>
              </a:ext>
            </a:extLst>
          </p:cNvPr>
          <p:cNvSpPr/>
          <p:nvPr/>
        </p:nvSpPr>
        <p:spPr>
          <a:xfrm rot="8075972">
            <a:off x="5720068" y="3063365"/>
            <a:ext cx="1074439" cy="528638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E3C77B80-9F95-14B0-6DFF-D63319CEE724}"/>
              </a:ext>
            </a:extLst>
          </p:cNvPr>
          <p:cNvSpPr/>
          <p:nvPr/>
        </p:nvSpPr>
        <p:spPr>
          <a:xfrm rot="20442131">
            <a:off x="2852892" y="4625543"/>
            <a:ext cx="984786" cy="528638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946283AF-9182-D8AA-A581-0AE9E23DE983}"/>
              </a:ext>
            </a:extLst>
          </p:cNvPr>
          <p:cNvSpPr/>
          <p:nvPr/>
        </p:nvSpPr>
        <p:spPr>
          <a:xfrm rot="12301077">
            <a:off x="6096668" y="4591685"/>
            <a:ext cx="984786" cy="528638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403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Shape 1"/>
          <p:cNvSpPr txBox="1"/>
          <p:nvPr/>
        </p:nvSpPr>
        <p:spPr>
          <a:xfrm>
            <a:off x="504000" y="301320"/>
            <a:ext cx="9071640" cy="106196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Learning paradigms</a:t>
            </a:r>
          </a:p>
        </p:txBody>
      </p:sp>
      <p:sp>
        <p:nvSpPr>
          <p:cNvPr id="59" name="TextShape 2"/>
          <p:cNvSpPr txBox="1"/>
          <p:nvPr/>
        </p:nvSpPr>
        <p:spPr>
          <a:xfrm>
            <a:off x="504000" y="1563481"/>
            <a:ext cx="9071640" cy="56948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Standard learning paradigms: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Supervised learning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nsupervised learning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Semi-supervised learning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Reinforcement learning</a:t>
            </a:r>
          </a:p>
          <a:p>
            <a:pPr marL="108000">
              <a:spcAft>
                <a:spcPts val="1414"/>
              </a:spcAft>
              <a:buClr>
                <a:srgbClr val="000000"/>
              </a:buClr>
              <a:buSzPct val="45000"/>
            </a:pPr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Non-standard paradigms: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ctive learning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Transfer learning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Transductive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learning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764E9C5-501E-E04C-A0EC-3A445F05766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648038" y="3319434"/>
            <a:ext cx="1438200" cy="1901160"/>
          </a:xfrm>
          <a:prstGeom prst="rect">
            <a:avLst/>
          </a:prstGeom>
          <a:ln>
            <a:noFill/>
          </a:ln>
        </p:spPr>
      </p:pic>
      <p:sp>
        <p:nvSpPr>
          <p:cNvPr id="60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Supervised learning</a:t>
            </a:r>
          </a:p>
        </p:txBody>
      </p:sp>
      <p:sp>
        <p:nvSpPr>
          <p:cNvPr id="61" name="TextShape 2"/>
          <p:cNvSpPr txBox="1"/>
          <p:nvPr/>
        </p:nvSpPr>
        <p:spPr>
          <a:xfrm>
            <a:off x="504000" y="1769040"/>
            <a:ext cx="9071640" cy="21212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 have a set of labeled training samples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1: object recognition in images annotated with corresponding class labels</a:t>
            </a:r>
          </a:p>
        </p:txBody>
      </p:sp>
      <p:pic>
        <p:nvPicPr>
          <p:cNvPr id="63" name="Picture 62"/>
          <p:cNvPicPr/>
          <p:nvPr/>
        </p:nvPicPr>
        <p:blipFill>
          <a:blip r:embed="rId3"/>
          <a:stretch/>
        </p:blipFill>
        <p:spPr>
          <a:xfrm>
            <a:off x="3407288" y="5149079"/>
            <a:ext cx="1837187" cy="1860109"/>
          </a:xfrm>
          <a:prstGeom prst="rect">
            <a:avLst/>
          </a:prstGeom>
          <a:ln>
            <a:noFill/>
          </a:ln>
        </p:spPr>
      </p:pic>
      <p:pic>
        <p:nvPicPr>
          <p:cNvPr id="64" name="Picture 63"/>
          <p:cNvPicPr/>
          <p:nvPr/>
        </p:nvPicPr>
        <p:blipFill>
          <a:blip r:embed="rId4"/>
          <a:stretch/>
        </p:blipFill>
        <p:spPr>
          <a:xfrm>
            <a:off x="7423157" y="5381505"/>
            <a:ext cx="2317897" cy="1854043"/>
          </a:xfrm>
          <a:prstGeom prst="rect">
            <a:avLst/>
          </a:prstGeom>
          <a:ln>
            <a:noFill/>
          </a:ln>
        </p:spPr>
      </p:pic>
      <p:sp>
        <p:nvSpPr>
          <p:cNvPr id="65" name="CustomShape 3"/>
          <p:cNvSpPr/>
          <p:nvPr/>
        </p:nvSpPr>
        <p:spPr>
          <a:xfrm>
            <a:off x="7896305" y="6870103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Dog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CustomShape 4"/>
          <p:cNvSpPr/>
          <p:nvPr/>
        </p:nvSpPr>
        <p:spPr>
          <a:xfrm>
            <a:off x="3640081" y="6798588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Person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06E69B-CFF0-FB47-8E94-E62537E08B9A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381369" y="3635514"/>
            <a:ext cx="2377440" cy="1585080"/>
          </a:xfrm>
          <a:prstGeom prst="rect">
            <a:avLst/>
          </a:prstGeom>
          <a:ln>
            <a:noFill/>
          </a:ln>
        </p:spPr>
      </p:pic>
      <p:pic>
        <p:nvPicPr>
          <p:cNvPr id="62" name="Picture 61"/>
          <p:cNvPicPr/>
          <p:nvPr/>
        </p:nvPicPr>
        <p:blipFill>
          <a:blip r:embed="rId6"/>
          <a:stretch/>
        </p:blipFill>
        <p:spPr>
          <a:xfrm>
            <a:off x="375076" y="5590424"/>
            <a:ext cx="2583553" cy="1652611"/>
          </a:xfrm>
          <a:prstGeom prst="rect">
            <a:avLst/>
          </a:prstGeom>
          <a:ln>
            <a:noFill/>
          </a:ln>
        </p:spPr>
      </p:pic>
      <p:sp>
        <p:nvSpPr>
          <p:cNvPr id="67" name="CustomShape 5"/>
          <p:cNvSpPr/>
          <p:nvPr/>
        </p:nvSpPr>
        <p:spPr>
          <a:xfrm>
            <a:off x="912398" y="7020339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Car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" name="CustomShape 5">
            <a:extLst>
              <a:ext uri="{FF2B5EF4-FFF2-40B4-BE49-F238E27FC236}">
                <a16:creationId xmlns:a16="http://schemas.microsoft.com/office/drawing/2014/main" id="{003F741D-8A71-2342-AA19-429851E9BF52}"/>
              </a:ext>
            </a:extLst>
          </p:cNvPr>
          <p:cNvSpPr/>
          <p:nvPr/>
        </p:nvSpPr>
        <p:spPr>
          <a:xfrm>
            <a:off x="884289" y="4998843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Car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3" name="CustomShape 4">
            <a:extLst>
              <a:ext uri="{FF2B5EF4-FFF2-40B4-BE49-F238E27FC236}">
                <a16:creationId xmlns:a16="http://schemas.microsoft.com/office/drawing/2014/main" id="{3F843D0E-3063-3E4E-AD71-8ECDACAFA3DF}"/>
              </a:ext>
            </a:extLst>
          </p:cNvPr>
          <p:cNvSpPr/>
          <p:nvPr/>
        </p:nvSpPr>
        <p:spPr>
          <a:xfrm>
            <a:off x="5681338" y="5019526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Person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 animBg="1"/>
      <p:bldP spid="67" grpId="0" animBg="1"/>
      <p:bldP spid="12" grpId="0" animBg="1"/>
      <p:bldP spid="1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Shape 2"/>
              <p:cNvSpPr txBox="1"/>
              <p:nvPr/>
            </p:nvSpPr>
            <p:spPr>
              <a:xfrm>
                <a:off x="504000" y="1640447"/>
                <a:ext cx="9071640" cy="59192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/>
              <a:lstStyle/>
              <a:p>
                <a:pPr marL="450900" indent="-342900">
                  <a:spcAft>
                    <a:spcPts val="1414"/>
                  </a:spcAft>
                  <a:buClr>
                    <a:srgbClr val="00000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Example 2: handwritten digit recognition (on the MNIST data set) </a:t>
                </a:r>
              </a:p>
              <a:p>
                <a:pPr marL="432000" indent="-324000">
                  <a:spcAft>
                    <a:spcPts val="1414"/>
                  </a:spcAft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  <a:p>
                <a:pPr marL="432000" indent="-324000">
                  <a:spcAft>
                    <a:spcPts val="1414"/>
                  </a:spcAft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  <a:p>
                <a:pPr marL="432000" indent="-324000">
                  <a:spcAft>
                    <a:spcPts val="1414"/>
                  </a:spcAft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  <a:p>
                <a:pPr marL="432000" indent="-324000">
                  <a:spcAft>
                    <a:spcPts val="1414"/>
                  </a:spcAft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  <a:p>
                <a:pPr marL="432000" indent="-324000">
                  <a:spcAft>
                    <a:spcPts val="1414"/>
                  </a:spcAft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  <a:p>
                <a:pPr marL="450900" indent="-342900">
                  <a:spcAft>
                    <a:spcPts val="1414"/>
                  </a:spcAft>
                  <a:buClr>
                    <a:srgbClr val="00000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Images of 28 x 28 pixels</a:t>
                </a:r>
              </a:p>
              <a:p>
                <a:pPr marL="450900" indent="-342900">
                  <a:spcAft>
                    <a:spcPts val="1414"/>
                  </a:spcAft>
                  <a:buClr>
                    <a:srgbClr val="00000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We can represent each image as a vector x </a:t>
                </a:r>
                <a:r>
                  <a:rPr lang="en-US" sz="2400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of</a:t>
                </a:r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 784 components</a:t>
                </a:r>
              </a:p>
              <a:p>
                <a:pPr marL="450900" indent="-342900">
                  <a:spcAft>
                    <a:spcPts val="1414"/>
                  </a:spcAft>
                  <a:buClr>
                    <a:srgbClr val="00000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We train a classifier </a:t>
                </a:r>
                <a14:m>
                  <m:oMath xmlns:m="http://schemas.openxmlformats.org/officeDocument/2006/math">
                    <m:r>
                      <a:rPr lang="en-US" sz="2400" b="0" i="1" strike="noStrike" spc="-1" dirty="0" smtClean="0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trike="noStrike" spc="-1" dirty="0" smtClean="0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trike="noStrike" spc="-1" dirty="0" smtClean="0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trike="noStrike" spc="-1" dirty="0" smtClean="0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strike="noStrike" spc="-1" dirty="0">
                    <a:solidFill>
                      <a:srgbClr val="000000"/>
                    </a:solidFill>
                    <a:uFill>
                      <a:solidFill>
                        <a:srgbClr val="FFFFFF"/>
                      </a:solidFill>
                    </a:uFill>
                    <a:latin typeface="Arial"/>
                  </a:rPr>
                  <a:t> such that:</a:t>
                </a:r>
              </a:p>
              <a:p>
                <a:pPr marL="108000">
                  <a:spcAft>
                    <a:spcPts val="1414"/>
                  </a:spcAft>
                  <a:buClr>
                    <a:srgbClr val="000000"/>
                  </a:buClr>
                  <a:buSzPct val="100000"/>
                </a:pPr>
                <a14:m>
                  <m:oMathPara xmlns:m="http://schemas.openxmlformats.org/officeDocument/2006/math">
                    <m:oMath>
                      <m:r>
                        <a:rPr lang="en-US" sz="2400" b="0" i="1" strike="noStrike" spc="-1" dirty="0" smtClean="0">
                          <a:solidFill>
                            <a:srgbClr val="00000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trike="noStrike" spc="-1" dirty="0" smtClean="0">
                          <a:solidFill>
                            <a:srgbClr val="00000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sz="2400" b="0" i="1" strike="noStrike" spc="-1" dirty="0" smtClean="0">
                          <a:solidFill>
                            <a:srgbClr val="00000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trike="noStrike" spc="-1" dirty="0" smtClean="0">
                          <a:solidFill>
                            <a:srgbClr val="00000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Cambria Math" panose="02040503050406030204" pitchFamily="18" charset="0"/>
                        </a:rPr>
                        <m:t> → {0, 1, 2, 3, 4, 5, 6, 7, 8, 9}</m:t>
                      </m:r>
                    </m:oMath>
                  </m:oMathPara>
                </a14:m>
                <a:endParaRPr lang="en-US" sz="2400" b="0" strike="noStrike" spc="-1" dirty="0">
                  <a:solidFill>
                    <a:srgbClr val="000000"/>
                  </a:solidFill>
                  <a:uFill>
                    <a:solidFill>
                      <a:srgbClr val="FFFFFF"/>
                    </a:solidFill>
                  </a:uFill>
                  <a:latin typeface="Arial"/>
                </a:endParaRPr>
              </a:p>
            </p:txBody>
          </p:sp>
        </mc:Choice>
        <mc:Fallback xmlns="">
          <p:sp>
            <p:nvSpPr>
              <p:cNvPr id="69" name="TextShap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000" y="1640447"/>
                <a:ext cx="9071640" cy="5919227"/>
              </a:xfrm>
              <a:prstGeom prst="rect">
                <a:avLst/>
              </a:prstGeom>
              <a:blipFill>
                <a:blip r:embed="rId2"/>
                <a:stretch>
                  <a:fillRect l="-699" t="-1499" r="-11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0" name="Picture 69"/>
          <p:cNvPicPr/>
          <p:nvPr/>
        </p:nvPicPr>
        <p:blipFill>
          <a:blip r:embed="rId3"/>
          <a:stretch/>
        </p:blipFill>
        <p:spPr>
          <a:xfrm>
            <a:off x="2227680" y="2625480"/>
            <a:ext cx="5618880" cy="2345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72" name="TextShape 2"/>
          <p:cNvSpPr txBox="1"/>
          <p:nvPr/>
        </p:nvSpPr>
        <p:spPr>
          <a:xfrm>
            <a:off x="504000" y="1397561"/>
            <a:ext cx="9071640" cy="61621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Example 2 (continued): handwritten digit recognition (on the MNIST data set) 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Starting with a training set of about 60K images (about 6000 images per class)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… the error rate can go down to 0.23% (using convolutional neural networks)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Among the first (learning-based) systems used in a large-scale commercial setting for postal code and bank cheque processing</a:t>
            </a:r>
          </a:p>
        </p:txBody>
      </p:sp>
      <p:pic>
        <p:nvPicPr>
          <p:cNvPr id="73" name="Picture 72"/>
          <p:cNvPicPr/>
          <p:nvPr/>
        </p:nvPicPr>
        <p:blipFill>
          <a:blip r:embed="rId2"/>
          <a:stretch/>
        </p:blipFill>
        <p:spPr>
          <a:xfrm>
            <a:off x="3257586" y="2021400"/>
            <a:ext cx="4206240" cy="29642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75" name="TextShape 2"/>
          <p:cNvSpPr txBox="1"/>
          <p:nvPr/>
        </p:nvSpPr>
        <p:spPr>
          <a:xfrm>
            <a:off x="504000" y="1563480"/>
            <a:ext cx="9320224" cy="55688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3: face detection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One approach consists of sliding a window over the image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goal is to classify each window into one of the two possible classes: face or not-face</a:t>
            </a:r>
            <a:endParaRPr lang="en-US" sz="2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The original problem is transformed into a classification problem</a:t>
            </a:r>
          </a:p>
        </p:txBody>
      </p:sp>
      <p:pic>
        <p:nvPicPr>
          <p:cNvPr id="76" name="Picture 75"/>
          <p:cNvPicPr/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3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4162193" y="2233803"/>
            <a:ext cx="5197320" cy="2456640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D8277F-D8B4-8845-99B2-7267954A79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94" y="2233802"/>
            <a:ext cx="3275519" cy="24566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78" name="TextShape 2"/>
          <p:cNvSpPr txBox="1"/>
          <p:nvPr/>
        </p:nvSpPr>
        <p:spPr>
          <a:xfrm>
            <a:off x="336331" y="1769040"/>
            <a:ext cx="9385738" cy="5363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Example 3: face detection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 </a:t>
            </a:r>
            <a:r>
              <a:rPr lang="en-US" sz="26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start with a set of face images with different variations such as age, gender, illumination, pose, but no translations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… and a larger set of images that do not contain full faces</a:t>
            </a:r>
          </a:p>
        </p:txBody>
      </p:sp>
      <p:pic>
        <p:nvPicPr>
          <p:cNvPr id="79" name="Picture 78"/>
          <p:cNvPicPr/>
          <p:nvPr/>
        </p:nvPicPr>
        <p:blipFill>
          <a:blip r:embed="rId2"/>
          <a:stretch/>
        </p:blipFill>
        <p:spPr>
          <a:xfrm>
            <a:off x="3074040" y="2286000"/>
            <a:ext cx="3509640" cy="34812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81" name="TextShape 2"/>
          <p:cNvSpPr txBox="1"/>
          <p:nvPr/>
        </p:nvSpPr>
        <p:spPr>
          <a:xfrm>
            <a:off x="502920" y="1463040"/>
            <a:ext cx="9071640" cy="5706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4: spam detection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task is to classify an email into spam or not-spam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occurrence of the word “Dollars” is a good indicator of spam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 possible representation is a vector of word frequencies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B89D41-5A85-5943-88DE-E3ACC0FB1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8048" y="1872655"/>
            <a:ext cx="7404397" cy="3521146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932675"/>
          </a:xfrm>
        </p:spPr>
        <p:txBody>
          <a:bodyPr/>
          <a:lstStyle/>
          <a:p>
            <a:pPr algn="ctr"/>
            <a:r>
              <a:rPr lang="en-US" dirty="0"/>
              <a:t>We count the words…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552" y="1570670"/>
            <a:ext cx="4009073" cy="56767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20797" y="1210690"/>
            <a:ext cx="2307042" cy="6012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7" dirty="0"/>
              <a:t>obtaining X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DC5D56-5CEA-FB47-8BA4-6081D5F3C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2" y="4718045"/>
            <a:ext cx="6032038" cy="2573107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9C4320-FC79-004C-ABE0-E0A42E375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1" y="1594864"/>
            <a:ext cx="5982313" cy="2844877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943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spam detection algorithm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" y="1299805"/>
            <a:ext cx="10079567" cy="5503902"/>
          </a:xfrm>
          <a:prstGeom prst="rect">
            <a:avLst/>
          </a:prstGeom>
        </p:spPr>
      </p:pic>
      <p:grpSp>
        <p:nvGrpSpPr>
          <p:cNvPr id="15" name="Group 14"/>
          <p:cNvGrpSpPr/>
          <p:nvPr/>
        </p:nvGrpSpPr>
        <p:grpSpPr>
          <a:xfrm>
            <a:off x="84525" y="4535806"/>
            <a:ext cx="2292615" cy="2416024"/>
            <a:chOff x="76200" y="4114800"/>
            <a:chExt cx="2079815" cy="2191773"/>
          </a:xfrm>
        </p:grpSpPr>
        <p:sp>
          <p:nvSpPr>
            <p:cNvPr id="8" name="Oval 7"/>
            <p:cNvSpPr/>
            <p:nvPr/>
          </p:nvSpPr>
          <p:spPr bwMode="auto">
            <a:xfrm>
              <a:off x="300831" y="4114800"/>
              <a:ext cx="685800" cy="1752600"/>
            </a:xfrm>
            <a:prstGeom prst="ellipse">
              <a:avLst/>
            </a:prstGeom>
            <a:noFill/>
            <a:ln w="38100">
              <a:headEnd type="none" w="med" len="med"/>
              <a:tailEnd type="none" w="med" len="med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none" lIns="100796" tIns="50398" rIns="100796" bIns="50398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007943" eaLnBrk="0" fontAlgn="base" hangingPunct="0">
                <a:spcBef>
                  <a:spcPct val="50000"/>
                </a:spcBef>
                <a:spcAft>
                  <a:spcPct val="0"/>
                </a:spcAft>
              </a:pPr>
              <a:endParaRPr lang="en-US" sz="1323">
                <a:solidFill>
                  <a:schemeClr val="tx1"/>
                </a:solidFill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200" y="5943600"/>
              <a:ext cx="2079815" cy="3629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Why these words?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059382" y="4535805"/>
            <a:ext cx="3137064" cy="2897092"/>
            <a:chOff x="3682118" y="4114800"/>
            <a:chExt cx="2845888" cy="2628188"/>
          </a:xfrm>
        </p:grpSpPr>
        <p:sp>
          <p:nvSpPr>
            <p:cNvPr id="10" name="Oval 9"/>
            <p:cNvSpPr/>
            <p:nvPr/>
          </p:nvSpPr>
          <p:spPr bwMode="auto">
            <a:xfrm>
              <a:off x="4338656" y="4114800"/>
              <a:ext cx="741718" cy="1947446"/>
            </a:xfrm>
            <a:prstGeom prst="ellipse">
              <a:avLst/>
            </a:prstGeom>
            <a:noFill/>
            <a:ln w="38100">
              <a:headEnd type="none" w="med" len="med"/>
              <a:tailEnd type="none" w="med" len="med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none" lIns="100796" tIns="50398" rIns="100796" bIns="50398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007943" eaLnBrk="0" fontAlgn="base" hangingPunct="0">
                <a:spcBef>
                  <a:spcPct val="50000"/>
                </a:spcBef>
                <a:spcAft>
                  <a:spcPct val="0"/>
                </a:spcAft>
              </a:pPr>
              <a:endParaRPr lang="en-US" sz="1323">
                <a:solidFill>
                  <a:schemeClr val="tx1"/>
                </a:solidFill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82118" y="6100807"/>
              <a:ext cx="2845888" cy="6421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Where do the weights come from?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763720" y="5964316"/>
            <a:ext cx="2166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Why linear combination?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76746" y="2677059"/>
            <a:ext cx="2510728" cy="3025227"/>
            <a:chOff x="6976684" y="2428582"/>
            <a:chExt cx="2277687" cy="2744430"/>
          </a:xfrm>
        </p:grpSpPr>
        <p:sp>
          <p:nvSpPr>
            <p:cNvPr id="13" name="TextBox 12"/>
            <p:cNvSpPr txBox="1"/>
            <p:nvPr/>
          </p:nvSpPr>
          <p:spPr>
            <a:xfrm>
              <a:off x="6976684" y="4251621"/>
              <a:ext cx="2277687" cy="921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Confidence / performance guarantee?</a:t>
              </a: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7354085" y="2428582"/>
              <a:ext cx="1752600" cy="1718846"/>
            </a:xfrm>
            <a:prstGeom prst="ellipse">
              <a:avLst/>
            </a:prstGeom>
            <a:noFill/>
            <a:ln w="38100">
              <a:headEnd type="none" w="med" len="med"/>
              <a:tailEnd type="none" w="med" len="med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none" lIns="100796" tIns="50398" rIns="100796" bIns="50398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1007943" eaLnBrk="0" fontAlgn="base" hangingPunct="0">
                <a:spcBef>
                  <a:spcPct val="50000"/>
                </a:spcBef>
                <a:spcAft>
                  <a:spcPct val="0"/>
                </a:spcAft>
              </a:pPr>
              <a:endParaRPr lang="en-US" sz="1323">
                <a:solidFill>
                  <a:schemeClr val="tx1"/>
                </a:solidFill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945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84" name="TextShape 2"/>
          <p:cNvSpPr txBox="1"/>
          <p:nvPr/>
        </p:nvSpPr>
        <p:spPr>
          <a:xfrm>
            <a:off x="502920" y="1463040"/>
            <a:ext cx="9071640" cy="5706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5: predicting stock prices on the market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goal is to predict the price at a future date, for example in a few days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This is a regression task, since the output is continuous</a:t>
            </a:r>
          </a:p>
        </p:txBody>
      </p:sp>
      <p:pic>
        <p:nvPicPr>
          <p:cNvPr id="85" name="Picture 84"/>
          <p:cNvPicPr/>
          <p:nvPr/>
        </p:nvPicPr>
        <p:blipFill>
          <a:blip r:embed="rId2"/>
          <a:stretch/>
        </p:blipFill>
        <p:spPr>
          <a:xfrm>
            <a:off x="2155680" y="1978920"/>
            <a:ext cx="5738760" cy="3230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Supervised learning</a:t>
            </a:r>
          </a:p>
        </p:txBody>
      </p:sp>
      <p:sp>
        <p:nvSpPr>
          <p:cNvPr id="87" name="TextShape 2"/>
          <p:cNvSpPr txBox="1"/>
          <p:nvPr/>
        </p:nvSpPr>
        <p:spPr>
          <a:xfrm>
            <a:off x="479170" y="1463040"/>
            <a:ext cx="9199220" cy="5706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6: image difficulty prediction [Ionescu et al. CVPR2016]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goal is to predict the time necessary for a human to solve a visual search task </a:t>
            </a:r>
            <a:r>
              <a:rPr lang="en-US" sz="2400" b="0" strike="noStrike" spc="-1" dirty="0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(data set available for project 2!)</a:t>
            </a:r>
            <a:endParaRPr lang="en-US" sz="2400" spc="-1" dirty="0">
              <a:solidFill>
                <a:srgbClr val="FF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This is a regression task, since the output is continuous</a:t>
            </a:r>
          </a:p>
        </p:txBody>
      </p:sp>
      <p:pic>
        <p:nvPicPr>
          <p:cNvPr id="88" name="Picture 87"/>
          <p:cNvPicPr/>
          <p:nvPr/>
        </p:nvPicPr>
        <p:blipFill>
          <a:blip r:embed="rId2"/>
          <a:stretch/>
        </p:blipFill>
        <p:spPr>
          <a:xfrm>
            <a:off x="263160" y="1917390"/>
            <a:ext cx="9645480" cy="3335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Canonical forms of supervised learning problems</a:t>
            </a:r>
          </a:p>
        </p:txBody>
      </p:sp>
      <p:sp>
        <p:nvSpPr>
          <p:cNvPr id="90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Classification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Regression</a:t>
            </a: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91" name="Picture 90"/>
          <p:cNvPicPr/>
          <p:nvPr/>
        </p:nvPicPr>
        <p:blipFill>
          <a:blip r:embed="rId2"/>
          <a:stretch/>
        </p:blipFill>
        <p:spPr>
          <a:xfrm>
            <a:off x="3234830" y="4622040"/>
            <a:ext cx="3623040" cy="2144520"/>
          </a:xfrm>
          <a:prstGeom prst="rect">
            <a:avLst/>
          </a:prstGeom>
          <a:ln>
            <a:noFill/>
          </a:ln>
        </p:spPr>
      </p:pic>
      <p:pic>
        <p:nvPicPr>
          <p:cNvPr id="92" name="Picture 91"/>
          <p:cNvPicPr/>
          <p:nvPr/>
        </p:nvPicPr>
        <p:blipFill>
          <a:blip r:embed="rId3"/>
          <a:stretch/>
        </p:blipFill>
        <p:spPr>
          <a:xfrm>
            <a:off x="3326270" y="1872720"/>
            <a:ext cx="3840480" cy="21506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Age estimation in images</a:t>
            </a:r>
          </a:p>
        </p:txBody>
      </p:sp>
      <p:sp>
        <p:nvSpPr>
          <p:cNvPr id="90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Classification?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Regression?</a:t>
            </a: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91" name="Picture 90"/>
          <p:cNvPicPr/>
          <p:nvPr/>
        </p:nvPicPr>
        <p:blipFill>
          <a:blip r:embed="rId2"/>
          <a:stretch/>
        </p:blipFill>
        <p:spPr>
          <a:xfrm>
            <a:off x="3246705" y="4622040"/>
            <a:ext cx="3623040" cy="2144520"/>
          </a:xfrm>
          <a:prstGeom prst="rect">
            <a:avLst/>
          </a:prstGeom>
          <a:ln>
            <a:noFill/>
          </a:ln>
        </p:spPr>
      </p:pic>
      <p:pic>
        <p:nvPicPr>
          <p:cNvPr id="92" name="Picture 91"/>
          <p:cNvPicPr/>
          <p:nvPr/>
        </p:nvPicPr>
        <p:blipFill>
          <a:blip r:embed="rId3"/>
          <a:stretch/>
        </p:blipFill>
        <p:spPr>
          <a:xfrm>
            <a:off x="3430445" y="1872720"/>
            <a:ext cx="3840480" cy="2150640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51388B-30A9-5241-876A-0A8A2755DF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2347" y="2170697"/>
            <a:ext cx="2143293" cy="21388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891FCC-450F-5248-AF17-CDC85B6E015D}"/>
              </a:ext>
            </a:extLst>
          </p:cNvPr>
          <p:cNvSpPr txBox="1"/>
          <p:nvPr/>
        </p:nvSpPr>
        <p:spPr>
          <a:xfrm>
            <a:off x="7471317" y="4460488"/>
            <a:ext cx="2104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What age?</a:t>
            </a:r>
          </a:p>
        </p:txBody>
      </p:sp>
    </p:spTree>
    <p:extLst>
      <p:ext uri="{BB962C8B-B14F-4D97-AF65-F5344CB8AC3E}">
        <p14:creationId xmlns:p14="http://schemas.microsoft.com/office/powerpoint/2010/main" val="259682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supervised learning paradigm</a:t>
            </a:r>
          </a:p>
        </p:txBody>
      </p:sp>
      <p:pic>
        <p:nvPicPr>
          <p:cNvPr id="94" name="Picture 93"/>
          <p:cNvPicPr/>
          <p:nvPr/>
        </p:nvPicPr>
        <p:blipFill>
          <a:blip r:embed="rId2"/>
          <a:stretch/>
        </p:blipFill>
        <p:spPr>
          <a:xfrm>
            <a:off x="1371600" y="1768680"/>
            <a:ext cx="7443720" cy="49903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Supervised learning models</a:t>
            </a:r>
          </a:p>
        </p:txBody>
      </p:sp>
      <p:sp>
        <p:nvSpPr>
          <p:cNvPr id="96" name="TextShape 2"/>
          <p:cNvSpPr txBox="1"/>
          <p:nvPr/>
        </p:nvSpPr>
        <p:spPr>
          <a:xfrm>
            <a:off x="504000" y="1769039"/>
            <a:ext cx="9071640" cy="508317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Naive Bayes (lecture 2)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-Nearest Neighbors (lecture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3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Decision trees and random forests (lecture 4)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Support Vector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Machines (lecture 5,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6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Kernel methods (lecture 5)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Kernel Ridge Regression (lecture 5)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Neural networks (lectures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7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8, 9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Many others…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Unsupervised learning</a:t>
            </a:r>
          </a:p>
        </p:txBody>
      </p:sp>
      <p:sp>
        <p:nvSpPr>
          <p:cNvPr id="98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 have an unlabeled training set of samples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1: clustering images based on similarity</a:t>
            </a:r>
          </a:p>
        </p:txBody>
      </p:sp>
      <p:pic>
        <p:nvPicPr>
          <p:cNvPr id="99" name="Picture 98"/>
          <p:cNvPicPr/>
          <p:nvPr/>
        </p:nvPicPr>
        <p:blipFill>
          <a:blip r:embed="rId2"/>
          <a:stretch/>
        </p:blipFill>
        <p:spPr>
          <a:xfrm>
            <a:off x="548640" y="3931920"/>
            <a:ext cx="2232360" cy="1463040"/>
          </a:xfrm>
          <a:prstGeom prst="rect">
            <a:avLst/>
          </a:prstGeom>
          <a:ln>
            <a:noFill/>
          </a:ln>
        </p:spPr>
      </p:pic>
      <p:pic>
        <p:nvPicPr>
          <p:cNvPr id="100" name="Picture 99"/>
          <p:cNvPicPr/>
          <p:nvPr/>
        </p:nvPicPr>
        <p:blipFill>
          <a:blip r:embed="rId3"/>
          <a:stretch/>
        </p:blipFill>
        <p:spPr>
          <a:xfrm>
            <a:off x="4201920" y="3840480"/>
            <a:ext cx="1650240" cy="1645920"/>
          </a:xfrm>
          <a:prstGeom prst="rect">
            <a:avLst/>
          </a:prstGeom>
          <a:ln>
            <a:noFill/>
          </a:ln>
        </p:spPr>
      </p:pic>
      <p:pic>
        <p:nvPicPr>
          <p:cNvPr id="101" name="Picture 100"/>
          <p:cNvPicPr/>
          <p:nvPr/>
        </p:nvPicPr>
        <p:blipFill>
          <a:blip r:embed="rId4"/>
          <a:stretch/>
        </p:blipFill>
        <p:spPr>
          <a:xfrm>
            <a:off x="6786000" y="3928320"/>
            <a:ext cx="2175120" cy="1649520"/>
          </a:xfrm>
          <a:prstGeom prst="rect">
            <a:avLst/>
          </a:prstGeom>
          <a:ln>
            <a:noFill/>
          </a:ln>
        </p:spPr>
      </p:pic>
      <p:pic>
        <p:nvPicPr>
          <p:cNvPr id="102" name="Picture 101"/>
          <p:cNvPicPr/>
          <p:nvPr/>
        </p:nvPicPr>
        <p:blipFill>
          <a:blip r:embed="rId5"/>
          <a:stretch/>
        </p:blipFill>
        <p:spPr>
          <a:xfrm>
            <a:off x="731520" y="5090040"/>
            <a:ext cx="2377440" cy="1585080"/>
          </a:xfrm>
          <a:prstGeom prst="rect">
            <a:avLst/>
          </a:prstGeom>
          <a:ln>
            <a:noFill/>
          </a:ln>
        </p:spPr>
      </p:pic>
      <p:pic>
        <p:nvPicPr>
          <p:cNvPr id="103" name="Picture 102"/>
          <p:cNvPicPr/>
          <p:nvPr/>
        </p:nvPicPr>
        <p:blipFill>
          <a:blip r:embed="rId6"/>
          <a:stretch/>
        </p:blipFill>
        <p:spPr>
          <a:xfrm>
            <a:off x="4683240" y="5139720"/>
            <a:ext cx="1438200" cy="1901160"/>
          </a:xfrm>
          <a:prstGeom prst="rect">
            <a:avLst/>
          </a:prstGeom>
          <a:ln>
            <a:noFill/>
          </a:ln>
        </p:spPr>
      </p:pic>
      <p:pic>
        <p:nvPicPr>
          <p:cNvPr id="104" name="Picture 103"/>
          <p:cNvPicPr/>
          <p:nvPr/>
        </p:nvPicPr>
        <p:blipFill>
          <a:blip r:embed="rId7"/>
          <a:stretch/>
        </p:blipFill>
        <p:spPr>
          <a:xfrm>
            <a:off x="8099280" y="5074200"/>
            <a:ext cx="1450800" cy="20026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Unsupervised learning</a:t>
            </a:r>
          </a:p>
        </p:txBody>
      </p:sp>
      <p:sp>
        <p:nvSpPr>
          <p:cNvPr id="98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1: clustering MNIST images based on similarity </a:t>
            </a:r>
            <a:r>
              <a:rPr lang="en-US" sz="2800" b="0" strike="noStrike" spc="-1" dirty="0">
                <a:solidFill>
                  <a:srgbClr val="0070C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[Georgescu et al. ICIP2019]</a:t>
            </a:r>
          </a:p>
        </p:txBody>
      </p:sp>
      <p:pic>
        <p:nvPicPr>
          <p:cNvPr id="3" name="Picture 2" descr="A picture containing text, map&#10;&#10;Description automatically generated">
            <a:extLst>
              <a:ext uri="{FF2B5EF4-FFF2-40B4-BE49-F238E27FC236}">
                <a16:creationId xmlns:a16="http://schemas.microsoft.com/office/drawing/2014/main" id="{422DF52F-1572-E844-9674-105726971F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602" y="2719278"/>
            <a:ext cx="7147419" cy="472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6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Unsupervised learning</a:t>
            </a:r>
          </a:p>
        </p:txBody>
      </p:sp>
      <p:sp>
        <p:nvSpPr>
          <p:cNvPr id="98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2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: unsupervised features learning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119E5C-08E5-5643-AA19-41A2A4094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40" y="2895537"/>
            <a:ext cx="9042400" cy="364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22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Shape 1"/>
          <p:cNvSpPr txBox="1"/>
          <p:nvPr/>
        </p:nvSpPr>
        <p:spPr>
          <a:xfrm>
            <a:off x="504000" y="218193"/>
            <a:ext cx="9071640" cy="77895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Unsupervised learning</a:t>
            </a:r>
          </a:p>
        </p:txBody>
      </p:sp>
      <p:sp>
        <p:nvSpPr>
          <p:cNvPr id="98" name="TextShape 2"/>
          <p:cNvSpPr txBox="1"/>
          <p:nvPr/>
        </p:nvSpPr>
        <p:spPr>
          <a:xfrm>
            <a:off x="504000" y="1080271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2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: unsupervised features learning for abnormal event detection </a:t>
            </a:r>
            <a:r>
              <a:rPr lang="en-US" sz="2800" b="0" strike="noStrike" spc="-1" dirty="0">
                <a:solidFill>
                  <a:srgbClr val="0070C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[Ionescu et al. CVPR2019]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37EC73-19F4-BF46-900C-674E17EDF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991" y="2146082"/>
            <a:ext cx="8671657" cy="528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831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Unsupervised learning</a:t>
            </a:r>
          </a:p>
        </p:txBody>
      </p:sp>
      <p:sp>
        <p:nvSpPr>
          <p:cNvPr id="106" name="TextShape 2"/>
          <p:cNvSpPr txBox="1"/>
          <p:nvPr/>
        </p:nvSpPr>
        <p:spPr>
          <a:xfrm>
            <a:off x="504000" y="1463040"/>
            <a:ext cx="9071640" cy="5669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3: clustering mammals by family, species, etc.</a:t>
            </a: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450900" indent="-3429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task is to generate the phylogenetic tree based on DNA</a:t>
            </a:r>
          </a:p>
        </p:txBody>
      </p:sp>
      <p:pic>
        <p:nvPicPr>
          <p:cNvPr id="107" name="Picture 106"/>
          <p:cNvPicPr/>
          <p:nvPr/>
        </p:nvPicPr>
        <p:blipFill>
          <a:blip r:embed="rId2"/>
          <a:stretch/>
        </p:blipFill>
        <p:spPr>
          <a:xfrm>
            <a:off x="1626726" y="1934994"/>
            <a:ext cx="6827171" cy="4778943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Canonical forms of unsupervised learning problems</a:t>
            </a:r>
          </a:p>
        </p:txBody>
      </p:sp>
      <p:sp>
        <p:nvSpPr>
          <p:cNvPr id="109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lustering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Dimensionality Reduction</a:t>
            </a:r>
          </a:p>
        </p:txBody>
      </p:sp>
      <p:pic>
        <p:nvPicPr>
          <p:cNvPr id="110" name="Picture 109"/>
          <p:cNvPicPr/>
          <p:nvPr/>
        </p:nvPicPr>
        <p:blipFill>
          <a:blip r:embed="rId2"/>
          <a:stretch/>
        </p:blipFill>
        <p:spPr>
          <a:xfrm>
            <a:off x="1923480" y="2355840"/>
            <a:ext cx="6211800" cy="2138400"/>
          </a:xfrm>
          <a:prstGeom prst="rect">
            <a:avLst/>
          </a:prstGeom>
          <a:ln>
            <a:noFill/>
          </a:ln>
        </p:spPr>
      </p:pic>
      <p:pic>
        <p:nvPicPr>
          <p:cNvPr id="111" name="Picture 110"/>
          <p:cNvPicPr/>
          <p:nvPr/>
        </p:nvPicPr>
        <p:blipFill>
          <a:blip r:embed="rId3"/>
          <a:stretch/>
        </p:blipFill>
        <p:spPr>
          <a:xfrm>
            <a:off x="1878840" y="5246192"/>
            <a:ext cx="6283800" cy="20908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Unsupervised learning models</a:t>
            </a:r>
          </a:p>
        </p:txBody>
      </p:sp>
      <p:sp>
        <p:nvSpPr>
          <p:cNvPr id="113" name="TextShape 2"/>
          <p:cNvSpPr txBox="1"/>
          <p:nvPr/>
        </p:nvSpPr>
        <p:spPr>
          <a:xfrm>
            <a:off x="504000" y="1769039"/>
            <a:ext cx="9071640" cy="519891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K-means clustering (lecture </a:t>
            </a: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10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11)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DBScan</a:t>
            </a: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(lecture 12)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Hierarchical clustering (lecture 12)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Principal Component Analysis (lec</a:t>
            </a: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ture 13)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t-Distributed Stochastic Neighbor Embedding (lecture 13)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Hidden Markov Models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Many others…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Semi-supervised learning</a:t>
            </a:r>
          </a:p>
        </p:txBody>
      </p:sp>
      <p:sp>
        <p:nvSpPr>
          <p:cNvPr id="115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We have a training set of samples that are partially annotated with class labels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1: object recognition in images, some of which are annotated with corresponding class labels</a:t>
            </a:r>
          </a:p>
        </p:txBody>
      </p:sp>
      <p:pic>
        <p:nvPicPr>
          <p:cNvPr id="116" name="Picture 115"/>
          <p:cNvPicPr/>
          <p:nvPr/>
        </p:nvPicPr>
        <p:blipFill>
          <a:blip r:embed="rId2"/>
          <a:stretch/>
        </p:blipFill>
        <p:spPr>
          <a:xfrm>
            <a:off x="540000" y="5506200"/>
            <a:ext cx="2108880" cy="1382040"/>
          </a:xfrm>
          <a:prstGeom prst="rect">
            <a:avLst/>
          </a:prstGeom>
          <a:ln>
            <a:noFill/>
          </a:ln>
        </p:spPr>
      </p:pic>
      <p:pic>
        <p:nvPicPr>
          <p:cNvPr id="117" name="Picture 116"/>
          <p:cNvPicPr/>
          <p:nvPr/>
        </p:nvPicPr>
        <p:blipFill>
          <a:blip r:embed="rId3"/>
          <a:stretch/>
        </p:blipFill>
        <p:spPr>
          <a:xfrm>
            <a:off x="4125600" y="5516640"/>
            <a:ext cx="1742040" cy="1737360"/>
          </a:xfrm>
          <a:prstGeom prst="rect">
            <a:avLst/>
          </a:prstGeom>
          <a:ln>
            <a:noFill/>
          </a:ln>
        </p:spPr>
      </p:pic>
      <p:pic>
        <p:nvPicPr>
          <p:cNvPr id="118" name="Picture 117"/>
          <p:cNvPicPr/>
          <p:nvPr/>
        </p:nvPicPr>
        <p:blipFill>
          <a:blip r:embed="rId4"/>
          <a:stretch/>
        </p:blipFill>
        <p:spPr>
          <a:xfrm>
            <a:off x="6943680" y="5663520"/>
            <a:ext cx="1971720" cy="1495080"/>
          </a:xfrm>
          <a:prstGeom prst="rect">
            <a:avLst/>
          </a:prstGeom>
          <a:ln>
            <a:noFill/>
          </a:ln>
        </p:spPr>
      </p:pic>
      <p:sp>
        <p:nvSpPr>
          <p:cNvPr id="119" name="CustomShape 3"/>
          <p:cNvSpPr/>
          <p:nvPr/>
        </p:nvSpPr>
        <p:spPr>
          <a:xfrm>
            <a:off x="7226640" y="6796800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Dog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0" name="CustomShape 4"/>
          <p:cNvSpPr/>
          <p:nvPr/>
        </p:nvSpPr>
        <p:spPr>
          <a:xfrm>
            <a:off x="4294800" y="7015680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Person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1" name="CustomShape 5"/>
          <p:cNvSpPr/>
          <p:nvPr/>
        </p:nvSpPr>
        <p:spPr>
          <a:xfrm>
            <a:off x="917280" y="6685920"/>
            <a:ext cx="1371600" cy="421200"/>
          </a:xfrm>
          <a:custGeom>
            <a:avLst/>
            <a:gdLst/>
            <a:ahLst/>
            <a:cxnLst/>
            <a:rect l="0" t="0" r="r" b="b"/>
            <a:pathLst>
              <a:path w="3812" h="1172">
                <a:moveTo>
                  <a:pt x="195" y="0"/>
                </a:moveTo>
                <a:cubicBezTo>
                  <a:pt x="97" y="0"/>
                  <a:pt x="0" y="97"/>
                  <a:pt x="0" y="195"/>
                </a:cubicBezTo>
                <a:lnTo>
                  <a:pt x="0" y="975"/>
                </a:lnTo>
                <a:cubicBezTo>
                  <a:pt x="0" y="1073"/>
                  <a:pt x="97" y="1171"/>
                  <a:pt x="195" y="1171"/>
                </a:cubicBezTo>
                <a:lnTo>
                  <a:pt x="3615" y="1171"/>
                </a:lnTo>
                <a:cubicBezTo>
                  <a:pt x="3713" y="1171"/>
                  <a:pt x="3811" y="1073"/>
                  <a:pt x="3811" y="975"/>
                </a:cubicBezTo>
                <a:lnTo>
                  <a:pt x="3811" y="195"/>
                </a:lnTo>
                <a:cubicBezTo>
                  <a:pt x="3811" y="97"/>
                  <a:pt x="3713" y="0"/>
                  <a:pt x="3615" y="0"/>
                </a:cubicBezTo>
                <a:lnTo>
                  <a:pt x="195" y="0"/>
                </a:lnTo>
              </a:path>
            </a:pathLst>
          </a:custGeom>
          <a:solidFill>
            <a:srgbClr val="FFFF99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Car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22" name="Picture 121"/>
          <p:cNvPicPr/>
          <p:nvPr/>
        </p:nvPicPr>
        <p:blipFill>
          <a:blip r:embed="rId5"/>
          <a:stretch/>
        </p:blipFill>
        <p:spPr>
          <a:xfrm>
            <a:off x="1116360" y="4122720"/>
            <a:ext cx="2377440" cy="1585080"/>
          </a:xfrm>
          <a:prstGeom prst="rect">
            <a:avLst/>
          </a:prstGeom>
          <a:ln>
            <a:noFill/>
          </a:ln>
        </p:spPr>
      </p:pic>
      <p:pic>
        <p:nvPicPr>
          <p:cNvPr id="123" name="Picture 122"/>
          <p:cNvPicPr/>
          <p:nvPr/>
        </p:nvPicPr>
        <p:blipFill>
          <a:blip r:embed="rId6"/>
          <a:stretch/>
        </p:blipFill>
        <p:spPr>
          <a:xfrm>
            <a:off x="5068080" y="4172400"/>
            <a:ext cx="1438200" cy="1901160"/>
          </a:xfrm>
          <a:prstGeom prst="rect">
            <a:avLst/>
          </a:prstGeom>
          <a:ln>
            <a:noFill/>
          </a:ln>
        </p:spPr>
      </p:pic>
      <p:pic>
        <p:nvPicPr>
          <p:cNvPr id="124" name="Picture 123"/>
          <p:cNvPicPr/>
          <p:nvPr/>
        </p:nvPicPr>
        <p:blipFill>
          <a:blip r:embed="rId7"/>
          <a:stretch/>
        </p:blipFill>
        <p:spPr>
          <a:xfrm>
            <a:off x="8364960" y="4297680"/>
            <a:ext cx="1343880" cy="20102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Reinforcement learning</a:t>
            </a:r>
          </a:p>
        </p:txBody>
      </p:sp>
      <p:sp>
        <p:nvSpPr>
          <p:cNvPr id="126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How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does it work?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system learns intelligent behavior using a reinforcement signal (reward)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reward is given after several actions are taken (it </a:t>
            </a: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does not come 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after every action)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Time matters (data is sequential, not 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i.i.d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actions of the system can influence the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Reinforcement learning</a:t>
            </a:r>
          </a:p>
        </p:txBody>
      </p:sp>
      <p:sp>
        <p:nvSpPr>
          <p:cNvPr id="128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1: learning to play Go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+/- reward for winning / losing the game</a:t>
            </a:r>
          </a:p>
        </p:txBody>
      </p:sp>
      <p:pic>
        <p:nvPicPr>
          <p:cNvPr id="129" name="Picture 128"/>
          <p:cNvPicPr/>
          <p:nvPr/>
        </p:nvPicPr>
        <p:blipFill>
          <a:blip r:embed="rId2"/>
          <a:stretch/>
        </p:blipFill>
        <p:spPr>
          <a:xfrm>
            <a:off x="1518828" y="3090104"/>
            <a:ext cx="7042967" cy="3963839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Reinforcement learning</a:t>
            </a:r>
          </a:p>
        </p:txBody>
      </p:sp>
      <p:sp>
        <p:nvSpPr>
          <p:cNvPr id="131" name="TextShape 2"/>
          <p:cNvSpPr txBox="1"/>
          <p:nvPr/>
        </p:nvSpPr>
        <p:spPr>
          <a:xfrm>
            <a:off x="504000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2: teaching a robot to ride a bike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+/- reward for moving forward / falling</a:t>
            </a:r>
          </a:p>
        </p:txBody>
      </p:sp>
      <p:pic>
        <p:nvPicPr>
          <p:cNvPr id="132" name="Picture 131"/>
          <p:cNvPicPr/>
          <p:nvPr/>
        </p:nvPicPr>
        <p:blipFill>
          <a:blip r:embed="rId2"/>
          <a:stretch/>
        </p:blipFill>
        <p:spPr>
          <a:xfrm>
            <a:off x="2351604" y="3111335"/>
            <a:ext cx="5377416" cy="406241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Reinforcement learning</a:t>
            </a:r>
          </a:p>
        </p:txBody>
      </p:sp>
      <p:sp>
        <p:nvSpPr>
          <p:cNvPr id="134" name="TextShape 2"/>
          <p:cNvSpPr txBox="1"/>
          <p:nvPr/>
        </p:nvSpPr>
        <p:spPr>
          <a:xfrm>
            <a:off x="504000" y="1409040"/>
            <a:ext cx="9072000" cy="252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3: learning to play Pong from image pixels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+/- reward for increasing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ersonal / adversary score</a:t>
            </a:r>
          </a:p>
        </p:txBody>
      </p:sp>
      <p:pic>
        <p:nvPicPr>
          <p:cNvPr id="136" name="Picture 135"/>
          <p:cNvPicPr/>
          <p:nvPr/>
        </p:nvPicPr>
        <p:blipFill>
          <a:blip r:embed="rId2"/>
          <a:stretch/>
        </p:blipFill>
        <p:spPr>
          <a:xfrm>
            <a:off x="1296720" y="4361040"/>
            <a:ext cx="7885080" cy="3006720"/>
          </a:xfrm>
          <a:prstGeom prst="rect">
            <a:avLst/>
          </a:prstGeom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854" y="2078326"/>
            <a:ext cx="3774915" cy="2035687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Reinforcement learning paradigm</a:t>
            </a:r>
          </a:p>
        </p:txBody>
      </p:sp>
      <p:pic>
        <p:nvPicPr>
          <p:cNvPr id="138" name="Picture 137"/>
          <p:cNvPicPr/>
          <p:nvPr/>
        </p:nvPicPr>
        <p:blipFill>
          <a:blip r:embed="rId2"/>
          <a:stretch/>
        </p:blipFill>
        <p:spPr>
          <a:xfrm>
            <a:off x="2390040" y="1548000"/>
            <a:ext cx="5425920" cy="59068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Formalizing as Markov Decision Process</a:t>
            </a:r>
          </a:p>
        </p:txBody>
      </p:sp>
      <p:pic>
        <p:nvPicPr>
          <p:cNvPr id="140" name="Picture 139"/>
          <p:cNvPicPr/>
          <p:nvPr/>
        </p:nvPicPr>
        <p:blipFill>
          <a:blip r:embed="rId2"/>
          <a:stretch/>
        </p:blipFill>
        <p:spPr>
          <a:xfrm>
            <a:off x="1714680" y="1720800"/>
            <a:ext cx="6645240" cy="5688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Formalizing as Markov Decision Process</a:t>
            </a:r>
          </a:p>
        </p:txBody>
      </p:sp>
      <p:pic>
        <p:nvPicPr>
          <p:cNvPr id="142" name="Picture 141"/>
          <p:cNvPicPr/>
          <p:nvPr/>
        </p:nvPicPr>
        <p:blipFill>
          <a:blip r:embed="rId2"/>
          <a:stretch/>
        </p:blipFill>
        <p:spPr>
          <a:xfrm>
            <a:off x="1677240" y="1758240"/>
            <a:ext cx="6645240" cy="5688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Formalizing as Markov Decision Process</a:t>
            </a:r>
          </a:p>
        </p:txBody>
      </p:sp>
      <p:sp>
        <p:nvSpPr>
          <p:cNvPr id="144" name="TextShape 2"/>
          <p:cNvSpPr txBox="1"/>
          <p:nvPr/>
        </p:nvSpPr>
        <p:spPr>
          <a:xfrm>
            <a:off x="466920" y="205812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Solution based on dynamic programming (small graphs) or approximation (large graphs)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Goal: select the actions that maximize the </a:t>
            </a:r>
            <a:r>
              <a:rPr lang="en-US" sz="28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total final reward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actions can have long-term consequences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Sacrificing the immediate reward can lead to higher rewards on the long term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Formalizing as Markov Decision Process</a:t>
            </a:r>
          </a:p>
        </p:txBody>
      </p:sp>
      <p:sp>
        <p:nvSpPr>
          <p:cNvPr id="146" name="TextShape 2"/>
          <p:cNvSpPr txBox="1"/>
          <p:nvPr/>
        </p:nvSpPr>
        <p:spPr>
          <a:xfrm>
            <a:off x="538560" y="227412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AlphaGo example: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Narrator 1: “That’s a very strange move”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Narrator 2: “I thought it was a mistake”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But actually, “the move turned the course of the game. 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AlphaGo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went on to win Game Two, and at the post-game press conference, Lee 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Sedol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was in shock.”</a:t>
            </a:r>
          </a:p>
          <a:p>
            <a:pPr marL="720000" indent="-457200">
              <a:spcAft>
                <a:spcPts val="1414"/>
              </a:spcAft>
              <a:buClr>
                <a:srgbClr val="000000"/>
              </a:buClr>
              <a:buSzPct val="100000"/>
              <a:buFont typeface="Wingdings" pitchFamily="2" charset="2"/>
              <a:buChar char="Ø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https://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www.wired.com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/2016/03/two-moves-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alphago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-lee-</a:t>
            </a:r>
            <a:r>
              <a:rPr lang="en-US" sz="28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sedol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-redefined-future/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Active learning</a:t>
            </a:r>
          </a:p>
        </p:txBody>
      </p:sp>
      <p:pic>
        <p:nvPicPr>
          <p:cNvPr id="148" name="Picture 147"/>
          <p:cNvPicPr/>
          <p:nvPr/>
        </p:nvPicPr>
        <p:blipFill>
          <a:blip r:embed="rId2"/>
          <a:stretch/>
        </p:blipFill>
        <p:spPr>
          <a:xfrm>
            <a:off x="1674756" y="3110987"/>
            <a:ext cx="6731112" cy="4122430"/>
          </a:xfrm>
          <a:prstGeom prst="rect">
            <a:avLst/>
          </a:prstGeom>
          <a:ln>
            <a:noFill/>
          </a:ln>
        </p:spPr>
      </p:pic>
      <p:sp>
        <p:nvSpPr>
          <p:cNvPr id="149" name="TextShape 2"/>
          <p:cNvSpPr txBox="1"/>
          <p:nvPr/>
        </p:nvSpPr>
        <p:spPr>
          <a:xfrm>
            <a:off x="640080" y="1645920"/>
            <a:ext cx="9071640" cy="1554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Given a large set of unlabeled samples, we have to choose a small subset for annotation in order to obtain a good classification model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Transfer learning</a:t>
            </a:r>
          </a:p>
        </p:txBody>
      </p:sp>
      <p:sp>
        <p:nvSpPr>
          <p:cNvPr id="151" name="TextShape 2"/>
          <p:cNvSpPr txBox="1"/>
          <p:nvPr/>
        </p:nvSpPr>
        <p:spPr>
          <a:xfrm>
            <a:off x="504000" y="1553040"/>
            <a:ext cx="9071640" cy="1888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Starting with a model trained for a certain task / domain, use the model for a different task / domain</a:t>
            </a:r>
          </a:p>
        </p:txBody>
      </p:sp>
      <p:pic>
        <p:nvPicPr>
          <p:cNvPr id="152" name="Picture 151"/>
          <p:cNvPicPr/>
          <p:nvPr/>
        </p:nvPicPr>
        <p:blipFill>
          <a:blip r:embed="rId2"/>
          <a:stretch/>
        </p:blipFill>
        <p:spPr>
          <a:xfrm>
            <a:off x="-77423" y="2815200"/>
            <a:ext cx="10234486" cy="2784960"/>
          </a:xfrm>
          <a:prstGeom prst="rect">
            <a:avLst/>
          </a:prstGeom>
          <a:ln>
            <a:noFill/>
          </a:ln>
        </p:spPr>
      </p:pic>
      <p:sp>
        <p:nvSpPr>
          <p:cNvPr id="153" name="CustomShape 3"/>
          <p:cNvSpPr/>
          <p:nvPr/>
        </p:nvSpPr>
        <p:spPr>
          <a:xfrm>
            <a:off x="4493996" y="5471280"/>
            <a:ext cx="914400" cy="930960"/>
          </a:xfrm>
          <a:custGeom>
            <a:avLst/>
            <a:gdLst/>
            <a:ahLst/>
            <a:cxnLst/>
            <a:rect l="l" t="t" r="r" b="b"/>
            <a:pathLst>
              <a:path w="841" h="854">
                <a:moveTo>
                  <a:pt x="517" y="247"/>
                </a:moveTo>
                <a:lnTo>
                  <a:pt x="517" y="415"/>
                </a:lnTo>
                <a:lnTo>
                  <a:pt x="264" y="415"/>
                </a:lnTo>
                <a:lnTo>
                  <a:pt x="264" y="0"/>
                </a:lnTo>
                <a:lnTo>
                  <a:pt x="0" y="0"/>
                </a:lnTo>
                <a:lnTo>
                  <a:pt x="0" y="680"/>
                </a:lnTo>
                <a:lnTo>
                  <a:pt x="517" y="680"/>
                </a:lnTo>
                <a:lnTo>
                  <a:pt x="517" y="854"/>
                </a:lnTo>
                <a:lnTo>
                  <a:pt x="841" y="547"/>
                </a:lnTo>
                <a:lnTo>
                  <a:pt x="517" y="247"/>
                </a:lnTo>
                <a:close/>
              </a:path>
            </a:pathLst>
          </a:custGeom>
          <a:solidFill>
            <a:srgbClr val="83CAFF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4" name="CustomShape 4"/>
          <p:cNvSpPr/>
          <p:nvPr/>
        </p:nvSpPr>
        <p:spPr>
          <a:xfrm>
            <a:off x="5555275" y="5363280"/>
            <a:ext cx="4121159" cy="1499040"/>
          </a:xfrm>
          <a:custGeom>
            <a:avLst/>
            <a:gdLst/>
            <a:ahLst/>
            <a:cxnLst/>
            <a:rect l="0" t="0" r="r" b="b"/>
            <a:pathLst>
              <a:path w="10924" h="4166">
                <a:moveTo>
                  <a:pt x="694" y="0"/>
                </a:moveTo>
                <a:cubicBezTo>
                  <a:pt x="347" y="0"/>
                  <a:pt x="0" y="347"/>
                  <a:pt x="0" y="694"/>
                </a:cubicBezTo>
                <a:lnTo>
                  <a:pt x="0" y="3470"/>
                </a:lnTo>
                <a:cubicBezTo>
                  <a:pt x="0" y="3817"/>
                  <a:pt x="347" y="4165"/>
                  <a:pt x="694" y="4165"/>
                </a:cubicBezTo>
                <a:lnTo>
                  <a:pt x="10228" y="4165"/>
                </a:lnTo>
                <a:cubicBezTo>
                  <a:pt x="10575" y="4165"/>
                  <a:pt x="10923" y="3817"/>
                  <a:pt x="10923" y="3470"/>
                </a:cubicBezTo>
                <a:lnTo>
                  <a:pt x="10923" y="694"/>
                </a:lnTo>
                <a:cubicBezTo>
                  <a:pt x="10923" y="347"/>
                  <a:pt x="10575" y="0"/>
                  <a:pt x="10228" y="0"/>
                </a:cubicBezTo>
                <a:lnTo>
                  <a:pt x="694" y="0"/>
                </a:lnTo>
              </a:path>
            </a:pathLst>
          </a:custGeom>
          <a:solidFill>
            <a:srgbClr val="83CAFF"/>
          </a:solidFill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More specific object classes,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face recognition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/>
            <a:r>
              <a: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</a:t>
            </a:r>
            <a:r>
              <a:rPr lang="en-US" sz="2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exture classification, etc.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Shape 1"/>
          <p:cNvSpPr txBox="1"/>
          <p:nvPr/>
        </p:nvSpPr>
        <p:spPr>
          <a:xfrm>
            <a:off x="504000" y="301320"/>
            <a:ext cx="9071640" cy="7080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Transfer learning</a:t>
            </a:r>
          </a:p>
        </p:txBody>
      </p:sp>
      <p:sp>
        <p:nvSpPr>
          <p:cNvPr id="156" name="TextShape 2"/>
          <p:cNvSpPr txBox="1"/>
          <p:nvPr/>
        </p:nvSpPr>
        <p:spPr>
          <a:xfrm>
            <a:off x="296883" y="1151906"/>
            <a:ext cx="9488385" cy="16150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Adapt the model to specific test samples</a:t>
            </a:r>
          </a:p>
          <a:p>
            <a:pPr marL="450900" indent="-342900">
              <a:spcAft>
                <a:spcPts val="8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Example 1: facial expression recognition </a:t>
            </a:r>
            <a:r>
              <a:rPr lang="en-US" sz="2200" spc="-1" dirty="0">
                <a:solidFill>
                  <a:srgbClr val="0070C0"/>
                </a:solidFill>
                <a:uFill>
                  <a:solidFill>
                    <a:srgbClr val="FFFFFF"/>
                  </a:solidFill>
                </a:uFill>
              </a:rPr>
              <a:t>[Georgescu et al. Access2019]</a:t>
            </a: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  <a:p>
            <a:pPr marL="432000" indent="-324000">
              <a:spcAft>
                <a:spcPts val="14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9" name="Picture 8" descr="A close up of a map&#10;&#10;Description automatically generated">
            <a:extLst>
              <a:ext uri="{FF2B5EF4-FFF2-40B4-BE49-F238E27FC236}">
                <a16:creationId xmlns:a16="http://schemas.microsoft.com/office/drawing/2014/main" id="{940FBC16-A5A8-BD4E-B9EC-330EDA51A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351" y="2018806"/>
            <a:ext cx="7579921" cy="536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48679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Transfer learning</a:t>
            </a:r>
          </a:p>
        </p:txBody>
      </p:sp>
      <p:sp>
        <p:nvSpPr>
          <p:cNvPr id="156" name="TextShape 2"/>
          <p:cNvSpPr txBox="1"/>
          <p:nvPr/>
        </p:nvSpPr>
        <p:spPr>
          <a:xfrm>
            <a:off x="504000" y="1553040"/>
            <a:ext cx="9071640" cy="1888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Example 2: zero-shot learning</a:t>
            </a:r>
          </a:p>
        </p:txBody>
      </p:sp>
      <p:pic>
        <p:nvPicPr>
          <p:cNvPr id="157" name="Picture 156"/>
          <p:cNvPicPr/>
          <p:nvPr/>
        </p:nvPicPr>
        <p:blipFill>
          <a:blip r:embed="rId2"/>
          <a:stretch/>
        </p:blipFill>
        <p:spPr>
          <a:xfrm>
            <a:off x="766340" y="2268629"/>
            <a:ext cx="8546960" cy="484938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89794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Many interesting applications, but…</a:t>
            </a:r>
          </a:p>
        </p:txBody>
      </p:sp>
      <p:sp>
        <p:nvSpPr>
          <p:cNvPr id="156" name="TextShape 2"/>
          <p:cNvSpPr txBox="1"/>
          <p:nvPr/>
        </p:nvSpPr>
        <p:spPr>
          <a:xfrm>
            <a:off x="504000" y="1553040"/>
            <a:ext cx="9071640" cy="1888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What is ethical and what is not?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Trolley paradox</a:t>
            </a: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A1A3C4-8071-C640-8A4D-84638219DC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244" y="3142446"/>
            <a:ext cx="6518136" cy="34328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Many interesting applications, but…</a:t>
            </a:r>
          </a:p>
        </p:txBody>
      </p:sp>
      <p:sp>
        <p:nvSpPr>
          <p:cNvPr id="156" name="TextShape 2"/>
          <p:cNvSpPr txBox="1"/>
          <p:nvPr/>
        </p:nvSpPr>
        <p:spPr>
          <a:xfrm>
            <a:off x="504000" y="1553040"/>
            <a:ext cx="9071640" cy="1888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What is ethical and what is not?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Trolley paradox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3EC185-F08D-224B-9D66-BA313155B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626" y="3146979"/>
            <a:ext cx="6331371" cy="334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42467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Shape 1"/>
          <p:cNvSpPr txBox="1"/>
          <p:nvPr/>
        </p:nvSpPr>
        <p:spPr>
          <a:xfrm>
            <a:off x="504000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45000"/>
            </a:pP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Many interesting applications, but…</a:t>
            </a:r>
          </a:p>
        </p:txBody>
      </p:sp>
      <p:sp>
        <p:nvSpPr>
          <p:cNvPr id="156" name="TextShape 2"/>
          <p:cNvSpPr txBox="1"/>
          <p:nvPr/>
        </p:nvSpPr>
        <p:spPr>
          <a:xfrm>
            <a:off x="504000" y="1553040"/>
            <a:ext cx="9071640" cy="1888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What is ethical and what is not?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Trolley paradox</a:t>
            </a:r>
          </a:p>
          <a:p>
            <a:pPr marL="565200" indent="-457200">
              <a:spcAft>
                <a:spcPts val="1414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http://</a:t>
            </a:r>
            <a:r>
              <a:rPr lang="en-US" sz="3200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moralmachine.mit.edu</a:t>
            </a:r>
            <a:endParaRPr lang="en-US" sz="32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</a:endParaRPr>
          </a:p>
        </p:txBody>
      </p:sp>
    </p:spTree>
    <p:extLst>
      <p:ext uri="{BB962C8B-B14F-4D97-AF65-F5344CB8AC3E}">
        <p14:creationId xmlns:p14="http://schemas.microsoft.com/office/powerpoint/2010/main" val="11392711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Shape 1"/>
          <p:cNvSpPr txBox="1"/>
          <p:nvPr/>
        </p:nvSpPr>
        <p:spPr>
          <a:xfrm>
            <a:off x="528638" y="3077527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Bibliography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Imagine 4" descr="CoverII_small.jpg"/>
          <p:cNvPicPr/>
          <p:nvPr/>
        </p:nvPicPr>
        <p:blipFill>
          <a:blip r:embed="rId2"/>
          <a:stretch/>
        </p:blipFill>
        <p:spPr>
          <a:xfrm>
            <a:off x="3067920" y="836640"/>
            <a:ext cx="3944160" cy="59637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Imagine 1" descr="0471056693.jpg"/>
          <p:cNvPicPr/>
          <p:nvPr/>
        </p:nvPicPr>
        <p:blipFill>
          <a:blip r:embed="rId2"/>
          <a:stretch/>
        </p:blipFill>
        <p:spPr>
          <a:xfrm>
            <a:off x="2940120" y="773280"/>
            <a:ext cx="4200120" cy="59922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887FE2-734A-1F46-8C89-1ACBA968A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537" y="809764"/>
            <a:ext cx="4527551" cy="594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529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Picture 444"/>
          <p:cNvPicPr/>
          <p:nvPr/>
        </p:nvPicPr>
        <p:blipFill>
          <a:blip r:embed="rId2"/>
          <a:stretch/>
        </p:blipFill>
        <p:spPr>
          <a:xfrm>
            <a:off x="2926080" y="484200"/>
            <a:ext cx="4297680" cy="6470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8555</TotalTime>
  <Words>2794</Words>
  <Application>Microsoft Macintosh PowerPoint</Application>
  <PresentationFormat>Custom</PresentationFormat>
  <Paragraphs>477</Paragraphs>
  <Slides>82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1" baseType="lpstr">
      <vt:lpstr>Andale Mono</vt:lpstr>
      <vt:lpstr>Arial</vt:lpstr>
      <vt:lpstr>Calibri</vt:lpstr>
      <vt:lpstr>Cambria Math</vt:lpstr>
      <vt:lpstr>Helvetica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Instructors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(NO) Collaboration Policy</vt:lpstr>
      <vt:lpstr>We are serious about this!</vt:lpstr>
      <vt:lpstr>Examples of unacceptable plagiarism</vt:lpstr>
      <vt:lpstr>Examples of unacceptable plagiarism</vt:lpstr>
      <vt:lpstr>Examples of unacceptable plagiarism</vt:lpstr>
      <vt:lpstr>Examples of unacceptable plagiarism</vt:lpstr>
      <vt:lpstr>Examples of unacceptable plagiarism</vt:lpstr>
      <vt:lpstr>Examples of unacceptable plagiarism</vt:lpstr>
      <vt:lpstr>Examples of acceptable code</vt:lpstr>
      <vt:lpstr>Examples of acceptable code</vt:lpstr>
      <vt:lpstr>Examples of acceptable code</vt:lpstr>
      <vt:lpstr>PowerPoint Presentation</vt:lpstr>
      <vt:lpstr>PowerPoint Presentation</vt:lpstr>
      <vt:lpstr>PowerPoint Presentation</vt:lpstr>
      <vt:lpstr>Classic Programming</vt:lpstr>
      <vt:lpstr>PowerPoint Presentation</vt:lpstr>
      <vt:lpstr>PowerPoint Presentation</vt:lpstr>
      <vt:lpstr>PowerPoint Presentation</vt:lpstr>
      <vt:lpstr>PowerPoint Presentation</vt:lpstr>
      <vt:lpstr>The essence of machine learning</vt:lpstr>
      <vt:lpstr>What is machine learning?</vt:lpstr>
      <vt:lpstr>Brief history of AI</vt:lpstr>
      <vt:lpstr>Brief history of AI</vt:lpstr>
      <vt:lpstr>Brief history of AI</vt:lpstr>
      <vt:lpstr>Why are things working today?</vt:lpstr>
      <vt:lpstr>ML in a nutshell</vt:lpstr>
      <vt:lpstr>ML in a nutshell</vt:lpstr>
      <vt:lpstr>ML in a nutshell</vt:lpstr>
      <vt:lpstr>Where does ML fit in?</vt:lpstr>
      <vt:lpstr>Where does ML fit in?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 count the words…</vt:lpstr>
      <vt:lpstr>The spam detection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Radu Ionescu</cp:lastModifiedBy>
  <cp:revision>514</cp:revision>
  <cp:lastPrinted>2019-02-19T09:18:26Z</cp:lastPrinted>
  <dcterms:created xsi:type="dcterms:W3CDTF">2016-10-12T16:27:10Z</dcterms:created>
  <dcterms:modified xsi:type="dcterms:W3CDTF">2026-10-05T10:22:32Z</dcterms:modified>
  <dc:language>en-US</dc:language>
</cp:coreProperties>
</file>